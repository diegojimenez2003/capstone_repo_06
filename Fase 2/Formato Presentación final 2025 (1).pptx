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6858000" cx="12192000"/>
  <p:notesSz cx="6858000" cy="9144000"/>
  <p:embeddedFontLst>
    <p:embeddedFont>
      <p:font typeface="Century Gothic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7" roundtripDataSignature="AMtx7mgW4BmfIG4pk/j2TWpTQTslmqEjw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CenturyGothic-bold.fntdata"/><Relationship Id="rId23" Type="http://schemas.openxmlformats.org/officeDocument/2006/relationships/font" Target="fonts/CenturyGothic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CenturyGothic-boldItalic.fntdata"/><Relationship Id="rId25" Type="http://schemas.openxmlformats.org/officeDocument/2006/relationships/font" Target="fonts/CenturyGothic-italic.fntdata"/><Relationship Id="rId27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a699b0e6da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3a699b0e6da_3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0"/>
          <p:cNvSpPr txBox="1"/>
          <p:nvPr>
            <p:ph type="ctrTitle"/>
          </p:nvPr>
        </p:nvSpPr>
        <p:spPr>
          <a:xfrm>
            <a:off x="1154955" y="1447800"/>
            <a:ext cx="8825658" cy="33295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Font typeface="Century Gothic"/>
              <a:buNone/>
              <a:defRPr sz="7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0"/>
          <p:cNvSpPr txBox="1"/>
          <p:nvPr>
            <p:ph idx="1" type="subTitle"/>
          </p:nvPr>
        </p:nvSpPr>
        <p:spPr>
          <a:xfrm>
            <a:off x="1154955" y="4777380"/>
            <a:ext cx="8825658" cy="861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1000"/>
              </a:spcBef>
              <a:spcAft>
                <a:spcPts val="0"/>
              </a:spcAft>
              <a:buSzPts val="1600"/>
              <a:buNone/>
              <a:defRPr cap="none">
                <a:solidFill>
                  <a:srgbClr val="86D1D8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44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20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0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0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1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1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26" name="Google Shape;26;p21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1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1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2"/>
          <p:cNvSpPr txBox="1"/>
          <p:nvPr>
            <p:ph type="title"/>
          </p:nvPr>
        </p:nvSpPr>
        <p:spPr>
          <a:xfrm>
            <a:off x="1154956" y="2861733"/>
            <a:ext cx="8825657" cy="19156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idx="1" type="body"/>
          </p:nvPr>
        </p:nvSpPr>
        <p:spPr>
          <a:xfrm>
            <a:off x="1154955" y="4777381"/>
            <a:ext cx="882565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" name="Google Shape;32;p22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2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2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3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3"/>
          <p:cNvSpPr txBox="1"/>
          <p:nvPr>
            <p:ph idx="1" type="body"/>
          </p:nvPr>
        </p:nvSpPr>
        <p:spPr>
          <a:xfrm>
            <a:off x="1103312" y="2060575"/>
            <a:ext cx="4396339" cy="419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38" name="Google Shape;38;p23"/>
          <p:cNvSpPr txBox="1"/>
          <p:nvPr>
            <p:ph idx="2" type="body"/>
          </p:nvPr>
        </p:nvSpPr>
        <p:spPr>
          <a:xfrm>
            <a:off x="5654493" y="2056092"/>
            <a:ext cx="4396341" cy="42002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39" name="Google Shape;39;p23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3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3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4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4"/>
          <p:cNvSpPr txBox="1"/>
          <p:nvPr>
            <p:ph idx="1" type="body"/>
          </p:nvPr>
        </p:nvSpPr>
        <p:spPr>
          <a:xfrm>
            <a:off x="1103313" y="1905000"/>
            <a:ext cx="439633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45" name="Google Shape;45;p24"/>
          <p:cNvSpPr txBox="1"/>
          <p:nvPr>
            <p:ph idx="2" type="body"/>
          </p:nvPr>
        </p:nvSpPr>
        <p:spPr>
          <a:xfrm>
            <a:off x="1103312" y="2514600"/>
            <a:ext cx="4396339" cy="3741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46" name="Google Shape;46;p24"/>
          <p:cNvSpPr txBox="1"/>
          <p:nvPr>
            <p:ph idx="3" type="body"/>
          </p:nvPr>
        </p:nvSpPr>
        <p:spPr>
          <a:xfrm>
            <a:off x="5654495" y="1905000"/>
            <a:ext cx="4396339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47" name="Google Shape;47;p24"/>
          <p:cNvSpPr txBox="1"/>
          <p:nvPr>
            <p:ph idx="4" type="body"/>
          </p:nvPr>
        </p:nvSpPr>
        <p:spPr>
          <a:xfrm>
            <a:off x="5654495" y="2514600"/>
            <a:ext cx="4396339" cy="3741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48" name="Google Shape;48;p24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4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4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5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5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5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6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6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6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7"/>
          <p:cNvSpPr txBox="1"/>
          <p:nvPr>
            <p:ph type="title"/>
          </p:nvPr>
        </p:nvSpPr>
        <p:spPr>
          <a:xfrm>
            <a:off x="1154953" y="1447800"/>
            <a:ext cx="3401064" cy="1447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7"/>
          <p:cNvSpPr txBox="1"/>
          <p:nvPr>
            <p:ph idx="1" type="body"/>
          </p:nvPr>
        </p:nvSpPr>
        <p:spPr>
          <a:xfrm>
            <a:off x="4784616" y="1447800"/>
            <a:ext cx="519599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0200" lvl="0" marL="457200" algn="l">
              <a:spcBef>
                <a:spcPts val="1000"/>
              </a:spcBef>
              <a:spcAft>
                <a:spcPts val="0"/>
              </a:spcAft>
              <a:buSzPts val="1600"/>
              <a:buChar char="►"/>
              <a:defRPr sz="2000"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2pPr>
            <a:lvl3pPr indent="-309880" lvl="2" marL="13716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3pPr>
            <a:lvl4pPr indent="-299719" lvl="3" marL="18288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4pPr>
            <a:lvl5pPr indent="-299720" lvl="4" marL="22860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5pPr>
            <a:lvl6pPr indent="-299720" lvl="5" marL="27432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6pPr>
            <a:lvl7pPr indent="-299720" lvl="6" marL="32004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7pPr>
            <a:lvl8pPr indent="-299720" lvl="7" marL="3657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8pPr>
            <a:lvl9pPr indent="-299720" lvl="8" marL="41148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9pPr>
          </a:lstStyle>
          <a:p/>
        </p:txBody>
      </p:sp>
      <p:sp>
        <p:nvSpPr>
          <p:cNvPr id="63" name="Google Shape;63;p27"/>
          <p:cNvSpPr txBox="1"/>
          <p:nvPr>
            <p:ph idx="2" type="body"/>
          </p:nvPr>
        </p:nvSpPr>
        <p:spPr>
          <a:xfrm>
            <a:off x="1154953" y="3129280"/>
            <a:ext cx="3401063" cy="2895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64" name="Google Shape;64;p27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7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7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8"/>
          <p:cNvSpPr txBox="1"/>
          <p:nvPr>
            <p:ph type="title"/>
          </p:nvPr>
        </p:nvSpPr>
        <p:spPr>
          <a:xfrm>
            <a:off x="1153907" y="1854192"/>
            <a:ext cx="5092906" cy="15748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b="0"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8"/>
          <p:cNvSpPr/>
          <p:nvPr>
            <p:ph idx="2" type="pic"/>
          </p:nvPr>
        </p:nvSpPr>
        <p:spPr>
          <a:xfrm>
            <a:off x="6949546" y="1143000"/>
            <a:ext cx="3200400" cy="4572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70" name="Google Shape;70;p28"/>
          <p:cNvSpPr txBox="1"/>
          <p:nvPr>
            <p:ph idx="1" type="body"/>
          </p:nvPr>
        </p:nvSpPr>
        <p:spPr>
          <a:xfrm>
            <a:off x="1154954" y="3657600"/>
            <a:ext cx="5084979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71" name="Google Shape;71;p28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8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8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panorámica con descripción">
  <p:cSld name="Imagen panorámica con descripción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9"/>
          <p:cNvSpPr txBox="1"/>
          <p:nvPr>
            <p:ph type="title"/>
          </p:nvPr>
        </p:nvSpPr>
        <p:spPr>
          <a:xfrm>
            <a:off x="1154956" y="4800587"/>
            <a:ext cx="8825657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9"/>
          <p:cNvSpPr/>
          <p:nvPr>
            <p:ph idx="2" type="pic"/>
          </p:nvPr>
        </p:nvSpPr>
        <p:spPr>
          <a:xfrm>
            <a:off x="1154955" y="685800"/>
            <a:ext cx="8825658" cy="3640666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77" name="Google Shape;77;p29"/>
          <p:cNvSpPr txBox="1"/>
          <p:nvPr>
            <p:ph idx="1" type="body"/>
          </p:nvPr>
        </p:nvSpPr>
        <p:spPr>
          <a:xfrm>
            <a:off x="1154956" y="5367325"/>
            <a:ext cx="8825656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78" name="Google Shape;78;p29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9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9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escripción">
  <p:cSld name="Título y descripción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0"/>
          <p:cNvSpPr txBox="1"/>
          <p:nvPr>
            <p:ph type="title"/>
          </p:nvPr>
        </p:nvSpPr>
        <p:spPr>
          <a:xfrm>
            <a:off x="1154954" y="1447800"/>
            <a:ext cx="8825659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Century Gothic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0"/>
          <p:cNvSpPr txBox="1"/>
          <p:nvPr>
            <p:ph idx="1" type="body"/>
          </p:nvPr>
        </p:nvSpPr>
        <p:spPr>
          <a:xfrm>
            <a:off x="1154954" y="3657600"/>
            <a:ext cx="8825659" cy="23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84" name="Google Shape;84;p30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0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0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 con descripción">
  <p:cSld name="Cita con descripción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1"/>
          <p:cNvSpPr txBox="1"/>
          <p:nvPr>
            <p:ph type="title"/>
          </p:nvPr>
        </p:nvSpPr>
        <p:spPr>
          <a:xfrm>
            <a:off x="1574801" y="1447800"/>
            <a:ext cx="7999315" cy="23233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Century Gothic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1"/>
          <p:cNvSpPr txBox="1"/>
          <p:nvPr>
            <p:ph idx="1" type="body"/>
          </p:nvPr>
        </p:nvSpPr>
        <p:spPr>
          <a:xfrm>
            <a:off x="1930400" y="3771174"/>
            <a:ext cx="7279649" cy="342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b="0" i="0" sz="1400" cap="small">
                <a:solidFill>
                  <a:srgbClr val="86D1D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90" name="Google Shape;90;p31"/>
          <p:cNvSpPr txBox="1"/>
          <p:nvPr>
            <p:ph idx="2" type="body"/>
          </p:nvPr>
        </p:nvSpPr>
        <p:spPr>
          <a:xfrm>
            <a:off x="1154954" y="4350657"/>
            <a:ext cx="8825659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91" name="Google Shape;91;p31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1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31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94" name="Google Shape;94;p3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2200">
                <a:solidFill>
                  <a:srgbClr val="86D1D8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95" name="Google Shape;95;p31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2200">
                <a:solidFill>
                  <a:srgbClr val="86D1D8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rjeta de nombre">
  <p:cSld name="Tarjeta de nombre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2"/>
          <p:cNvSpPr txBox="1"/>
          <p:nvPr>
            <p:ph type="title"/>
          </p:nvPr>
        </p:nvSpPr>
        <p:spPr>
          <a:xfrm>
            <a:off x="1154954" y="3124201"/>
            <a:ext cx="8825660" cy="16531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2"/>
          <p:cNvSpPr txBox="1"/>
          <p:nvPr>
            <p:ph idx="1" type="body"/>
          </p:nvPr>
        </p:nvSpPr>
        <p:spPr>
          <a:xfrm>
            <a:off x="1154954" y="4777381"/>
            <a:ext cx="8825659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" name="Google Shape;99;p32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32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32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a 3">
  <p:cSld name="Columna 3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3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 sz="4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33"/>
          <p:cNvSpPr txBox="1"/>
          <p:nvPr>
            <p:ph idx="1" type="body"/>
          </p:nvPr>
        </p:nvSpPr>
        <p:spPr>
          <a:xfrm>
            <a:off x="632947" y="1981200"/>
            <a:ext cx="2946866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05" name="Google Shape;105;p33"/>
          <p:cNvSpPr txBox="1"/>
          <p:nvPr>
            <p:ph idx="2" type="body"/>
          </p:nvPr>
        </p:nvSpPr>
        <p:spPr>
          <a:xfrm>
            <a:off x="652463" y="2667000"/>
            <a:ext cx="2927350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06" name="Google Shape;106;p33"/>
          <p:cNvSpPr txBox="1"/>
          <p:nvPr>
            <p:ph idx="3" type="body"/>
          </p:nvPr>
        </p:nvSpPr>
        <p:spPr>
          <a:xfrm>
            <a:off x="3883659" y="1981200"/>
            <a:ext cx="293624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07" name="Google Shape;107;p33"/>
          <p:cNvSpPr txBox="1"/>
          <p:nvPr>
            <p:ph idx="4" type="body"/>
          </p:nvPr>
        </p:nvSpPr>
        <p:spPr>
          <a:xfrm>
            <a:off x="3873106" y="2667000"/>
            <a:ext cx="2946794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08" name="Google Shape;108;p33"/>
          <p:cNvSpPr txBox="1"/>
          <p:nvPr>
            <p:ph idx="5" type="body"/>
          </p:nvPr>
        </p:nvSpPr>
        <p:spPr>
          <a:xfrm>
            <a:off x="7124700" y="1981200"/>
            <a:ext cx="293211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09" name="Google Shape;109;p33"/>
          <p:cNvSpPr txBox="1"/>
          <p:nvPr>
            <p:ph idx="6" type="body"/>
          </p:nvPr>
        </p:nvSpPr>
        <p:spPr>
          <a:xfrm>
            <a:off x="7124700" y="2667000"/>
            <a:ext cx="2932113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cxnSp>
        <p:nvCxnSpPr>
          <p:cNvPr id="110" name="Google Shape;110;p33"/>
          <p:cNvCxnSpPr/>
          <p:nvPr/>
        </p:nvCxnSpPr>
        <p:spPr>
          <a:xfrm>
            <a:off x="3726142" y="2133600"/>
            <a:ext cx="0" cy="3962400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" name="Google Shape;111;p33"/>
          <p:cNvCxnSpPr/>
          <p:nvPr/>
        </p:nvCxnSpPr>
        <p:spPr>
          <a:xfrm>
            <a:off x="6962227" y="2133600"/>
            <a:ext cx="0" cy="3966882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33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33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33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a de imagen 3">
  <p:cSld name="Columna de imagen 3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4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 sz="4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34"/>
          <p:cNvSpPr txBox="1"/>
          <p:nvPr>
            <p:ph idx="1" type="body"/>
          </p:nvPr>
        </p:nvSpPr>
        <p:spPr>
          <a:xfrm>
            <a:off x="652463" y="4250949"/>
            <a:ext cx="294005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18" name="Google Shape;118;p34"/>
          <p:cNvSpPr/>
          <p:nvPr>
            <p:ph idx="2" type="pic"/>
          </p:nvPr>
        </p:nvSpPr>
        <p:spPr>
          <a:xfrm>
            <a:off x="652463" y="2209800"/>
            <a:ext cx="2940050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19" name="Google Shape;119;p34"/>
          <p:cNvSpPr txBox="1"/>
          <p:nvPr>
            <p:ph idx="3" type="body"/>
          </p:nvPr>
        </p:nvSpPr>
        <p:spPr>
          <a:xfrm>
            <a:off x="652463" y="4827211"/>
            <a:ext cx="2940050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20" name="Google Shape;120;p34"/>
          <p:cNvSpPr txBox="1"/>
          <p:nvPr>
            <p:ph idx="4" type="body"/>
          </p:nvPr>
        </p:nvSpPr>
        <p:spPr>
          <a:xfrm>
            <a:off x="3889375" y="4250949"/>
            <a:ext cx="293052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21" name="Google Shape;121;p34"/>
          <p:cNvSpPr/>
          <p:nvPr>
            <p:ph idx="5" type="pic"/>
          </p:nvPr>
        </p:nvSpPr>
        <p:spPr>
          <a:xfrm>
            <a:off x="3889374" y="2209800"/>
            <a:ext cx="2930525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22" name="Google Shape;122;p34"/>
          <p:cNvSpPr txBox="1"/>
          <p:nvPr>
            <p:ph idx="6" type="body"/>
          </p:nvPr>
        </p:nvSpPr>
        <p:spPr>
          <a:xfrm>
            <a:off x="3888022" y="4827210"/>
            <a:ext cx="2934406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23" name="Google Shape;123;p34"/>
          <p:cNvSpPr txBox="1"/>
          <p:nvPr>
            <p:ph idx="7" type="body"/>
          </p:nvPr>
        </p:nvSpPr>
        <p:spPr>
          <a:xfrm>
            <a:off x="7124700" y="4250949"/>
            <a:ext cx="293211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24" name="Google Shape;124;p34"/>
          <p:cNvSpPr/>
          <p:nvPr>
            <p:ph idx="8" type="pic"/>
          </p:nvPr>
        </p:nvSpPr>
        <p:spPr>
          <a:xfrm>
            <a:off x="7124699" y="2209800"/>
            <a:ext cx="2932113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25" name="Google Shape;125;p34"/>
          <p:cNvSpPr txBox="1"/>
          <p:nvPr>
            <p:ph idx="9" type="body"/>
          </p:nvPr>
        </p:nvSpPr>
        <p:spPr>
          <a:xfrm>
            <a:off x="7124575" y="4827208"/>
            <a:ext cx="2935997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cxnSp>
        <p:nvCxnSpPr>
          <p:cNvPr id="126" name="Google Shape;126;p34"/>
          <p:cNvCxnSpPr/>
          <p:nvPr/>
        </p:nvCxnSpPr>
        <p:spPr>
          <a:xfrm>
            <a:off x="3726142" y="2133600"/>
            <a:ext cx="0" cy="3962400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" name="Google Shape;127;p34"/>
          <p:cNvCxnSpPr/>
          <p:nvPr/>
        </p:nvCxnSpPr>
        <p:spPr>
          <a:xfrm>
            <a:off x="6962227" y="2133600"/>
            <a:ext cx="0" cy="3966882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34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34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34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5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35"/>
          <p:cNvSpPr txBox="1"/>
          <p:nvPr>
            <p:ph idx="1" type="body"/>
          </p:nvPr>
        </p:nvSpPr>
        <p:spPr>
          <a:xfrm rot="5400000">
            <a:off x="3478842" y="-322612"/>
            <a:ext cx="4195481" cy="8946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34" name="Google Shape;134;p35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35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35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6"/>
          <p:cNvSpPr txBox="1"/>
          <p:nvPr>
            <p:ph type="title"/>
          </p:nvPr>
        </p:nvSpPr>
        <p:spPr>
          <a:xfrm rot="5400000">
            <a:off x="6267450" y="2466975"/>
            <a:ext cx="5826125" cy="17526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36"/>
          <p:cNvSpPr txBox="1"/>
          <p:nvPr>
            <p:ph idx="1" type="body"/>
          </p:nvPr>
        </p:nvSpPr>
        <p:spPr>
          <a:xfrm rot="5400000">
            <a:off x="1679576" y="-139699"/>
            <a:ext cx="5368924" cy="7423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40" name="Google Shape;140;p36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36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36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6.xml"/><Relationship Id="rId22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5.xml"/><Relationship Id="rId21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8.xml"/><Relationship Id="rId12" Type="http://schemas.openxmlformats.org/officeDocument/2006/relationships/slideLayout" Target="../slideLayouts/slideLayout7.xml"/><Relationship Id="rId23" Type="http://schemas.openxmlformats.org/officeDocument/2006/relationships/theme" Target="../theme/theme2.xml"/><Relationship Id="rId1" Type="http://schemas.openxmlformats.org/officeDocument/2006/relationships/image" Target="../media/image4.png"/><Relationship Id="rId2" Type="http://schemas.openxmlformats.org/officeDocument/2006/relationships/image" Target="../media/image10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9" Type="http://schemas.openxmlformats.org/officeDocument/2006/relationships/slideLayout" Target="../slideLayouts/slideLayout4.xml"/><Relationship Id="rId15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9.xml"/><Relationship Id="rId17" Type="http://schemas.openxmlformats.org/officeDocument/2006/relationships/slideLayout" Target="../slideLayouts/slideLayout12.xml"/><Relationship Id="rId16" Type="http://schemas.openxmlformats.org/officeDocument/2006/relationships/slideLayout" Target="../slideLayouts/slideLayout11.xml"/><Relationship Id="rId5" Type="http://schemas.openxmlformats.org/officeDocument/2006/relationships/image" Target="../media/image2.png"/><Relationship Id="rId19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.xml"/><Relationship Id="rId18" Type="http://schemas.openxmlformats.org/officeDocument/2006/relationships/slideLayout" Target="../slideLayouts/slideLayout13.xml"/><Relationship Id="rId7" Type="http://schemas.openxmlformats.org/officeDocument/2006/relationships/slideLayout" Target="../slideLayouts/slideLayout2.xml"/><Relationship Id="rId8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9"/>
          <p:cNvPicPr preferRelativeResize="0"/>
          <p:nvPr/>
        </p:nvPicPr>
        <p:blipFill rotWithShape="1">
          <a:blip r:embed="rId2">
            <a:alphaModFix/>
          </a:blip>
          <a:srcRect b="0" l="3613" r="0" t="0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;p19"/>
          <p:cNvPicPr preferRelativeResize="0"/>
          <p:nvPr/>
        </p:nvPicPr>
        <p:blipFill rotWithShape="1">
          <a:blip r:embed="rId3">
            <a:alphaModFix/>
          </a:blip>
          <a:srcRect b="0" l="35640" r="0" t="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19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>
            <a:gsLst>
              <a:gs pos="0">
                <a:srgbClr val="4CB9C3">
                  <a:alpha val="6666"/>
                </a:srgbClr>
              </a:gs>
              <a:gs pos="36000">
                <a:srgbClr val="4CB9C3">
                  <a:alpha val="5882"/>
                </a:srgbClr>
              </a:gs>
              <a:gs pos="69000">
                <a:srgbClr val="4CB9C3">
                  <a:alpha val="0"/>
                </a:srgbClr>
              </a:gs>
              <a:gs pos="100000">
                <a:srgbClr val="4CB9C3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" name="Google Shape;9;p19"/>
          <p:cNvPicPr preferRelativeResize="0"/>
          <p:nvPr/>
        </p:nvPicPr>
        <p:blipFill rotWithShape="1">
          <a:blip r:embed="rId4">
            <a:alphaModFix/>
          </a:blip>
          <a:srcRect b="0" l="0" r="0" t="28812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19"/>
          <p:cNvPicPr preferRelativeResize="0"/>
          <p:nvPr/>
        </p:nvPicPr>
        <p:blipFill rotWithShape="1">
          <a:blip r:embed="rId5">
            <a:alphaModFix/>
          </a:blip>
          <a:srcRect b="23320" l="0" r="0" t="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" name="Google Shape;12;p19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 b="0" i="0" sz="42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19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600"/>
              <a:buFont typeface="Noto Sans Symbols"/>
              <a:buChar char="►"/>
              <a:def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20040" lvl="1" marL="9144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440"/>
              <a:buFont typeface="Noto Sans Symbols"/>
              <a:buChar char="►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09880" lvl="2" marL="13716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Char char="►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99719" lvl="3" marL="18288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99720" lvl="4" marL="22860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99720" lvl="5" marL="27432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99720" lvl="6" marL="32004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99720" lvl="7" marL="36576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99720" lvl="8" marL="41148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4" name="Google Shape;14;p19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5" name="Google Shape;15;p19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6" name="Google Shape;16;p19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280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280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280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280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280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280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280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280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280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6"/>
    <p:sldLayoutId id="2147483650" r:id="rId7"/>
    <p:sldLayoutId id="2147483651" r:id="rId8"/>
    <p:sldLayoutId id="2147483652" r:id="rId9"/>
    <p:sldLayoutId id="2147483653" r:id="rId10"/>
    <p:sldLayoutId id="2147483654" r:id="rId11"/>
    <p:sldLayoutId id="2147483655" r:id="rId12"/>
    <p:sldLayoutId id="2147483656" r:id="rId13"/>
    <p:sldLayoutId id="2147483657" r:id="rId14"/>
    <p:sldLayoutId id="2147483658" r:id="rId15"/>
    <p:sldLayoutId id="2147483659" r:id="rId16"/>
    <p:sldLayoutId id="2147483660" r:id="rId17"/>
    <p:sldLayoutId id="2147483661" r:id="rId18"/>
    <p:sldLayoutId id="2147483662" r:id="rId19"/>
    <p:sldLayoutId id="2147483663" r:id="rId20"/>
    <p:sldLayoutId id="2147483664" r:id="rId21"/>
    <p:sldLayoutId id="2147483665" r:id="rId22"/>
  </p:sldLayoutIdLst>
  <p:transition spd="slow">
    <p:wipe dir="l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Relationship Id="rId4" Type="http://schemas.openxmlformats.org/officeDocument/2006/relationships/image" Target="../media/image11.png"/><Relationship Id="rId5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Relationship Id="rId4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jpg"/><Relationship Id="rId4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g"/><Relationship Id="rId4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jpg"/><Relationship Id="rId4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jpg"/><Relationship Id="rId4" Type="http://schemas.openxmlformats.org/officeDocument/2006/relationships/image" Target="../media/image17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jpg"/><Relationship Id="rId4" Type="http://schemas.openxmlformats.org/officeDocument/2006/relationships/image" Target="../media/image12.png"/><Relationship Id="rId5" Type="http://schemas.openxmlformats.org/officeDocument/2006/relationships/image" Target="../media/image15.png"/><Relationship Id="rId6" Type="http://schemas.openxmlformats.org/officeDocument/2006/relationships/image" Target="../media/image19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jpg"/><Relationship Id="rId4" Type="http://schemas.openxmlformats.org/officeDocument/2006/relationships/image" Target="../media/image13.jpg"/><Relationship Id="rId5" Type="http://schemas.openxmlformats.org/officeDocument/2006/relationships/image" Target="../media/image16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47" name="Google Shape;14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"/>
          <p:cNvSpPr txBox="1"/>
          <p:nvPr/>
        </p:nvSpPr>
        <p:spPr>
          <a:xfrm>
            <a:off x="1" y="2707792"/>
            <a:ext cx="121920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PROYECTO “</a:t>
            </a:r>
            <a:r>
              <a:rPr lang="es-MX" sz="4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Sistema de Gestión de Pedidos para Restaurant SD</a:t>
            </a:r>
            <a:r>
              <a:rPr lang="es-MX" sz="4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”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PRESENTACIÓN FINAL CAPSTONE</a:t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53" name="Google Shape;15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4" name="Google Shape;154;p2"/>
          <p:cNvGrpSpPr/>
          <p:nvPr/>
        </p:nvGrpSpPr>
        <p:grpSpPr>
          <a:xfrm>
            <a:off x="4121026" y="1710819"/>
            <a:ext cx="7633494" cy="4350553"/>
            <a:chOff x="0" y="0"/>
            <a:chExt cx="7633494" cy="4350553"/>
          </a:xfrm>
        </p:grpSpPr>
        <p:sp>
          <p:nvSpPr>
            <p:cNvPr id="155" name="Google Shape;155;p2"/>
            <p:cNvSpPr/>
            <p:nvPr/>
          </p:nvSpPr>
          <p:spPr>
            <a:xfrm>
              <a:off x="0" y="0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D98AB"/>
                </a:gs>
                <a:gs pos="100000">
                  <a:srgbClr val="41697A"/>
                </a:gs>
              </a:gsLst>
              <a:lin ang="5400000" scaled="0"/>
            </a:gradFill>
            <a:ln>
              <a:noFill/>
            </a:ln>
            <a:effectLst>
              <a:outerShdw blurRad="63500" rotWithShape="0" dir="5400000" dist="38100">
                <a:srgbClr val="000000">
                  <a:alpha val="6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2"/>
            <p:cNvSpPr txBox="1"/>
            <p:nvPr/>
          </p:nvSpPr>
          <p:spPr>
            <a:xfrm>
              <a:off x="1662653" y="0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entury Gothic"/>
                <a:buNone/>
              </a:pPr>
              <a:r>
                <a:rPr lang="es-MX" sz="26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Diego Alejandro Jimenez Carvajal </a:t>
              </a:r>
              <a:endParaRPr sz="2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entury Gothic"/>
                <a:buChar char="•"/>
              </a:pPr>
              <a:r>
                <a:rPr lang="es-MX" sz="20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Lider de proyecto</a:t>
              </a:r>
              <a:endPara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entury Gothic"/>
                <a:buChar char="•"/>
              </a:pPr>
              <a:r>
                <a:rPr lang="es-MX" sz="20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Coordinación y alineación del equipo</a:t>
              </a:r>
              <a:endPara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57" name="Google Shape;157;p2"/>
            <p:cNvSpPr/>
            <p:nvPr/>
          </p:nvSpPr>
          <p:spPr>
            <a:xfrm>
              <a:off x="135954" y="135954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1CDD4"/>
            </a:solidFill>
            <a:ln>
              <a:noFill/>
            </a:ln>
            <a:effectLst>
              <a:outerShdw blurRad="63500" rotWithShape="0" dir="5400000" dist="38100">
                <a:srgbClr val="000000">
                  <a:alpha val="6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2"/>
            <p:cNvSpPr/>
            <p:nvPr/>
          </p:nvSpPr>
          <p:spPr>
            <a:xfrm>
              <a:off x="0" y="1495502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D98AB"/>
                </a:gs>
                <a:gs pos="100000">
                  <a:srgbClr val="41697A"/>
                </a:gs>
              </a:gsLst>
              <a:lin ang="5400000" scaled="0"/>
            </a:gradFill>
            <a:ln>
              <a:noFill/>
            </a:ln>
            <a:effectLst>
              <a:outerShdw blurRad="63500" rotWithShape="0" dir="5400000" dist="38100">
                <a:srgbClr val="000000">
                  <a:alpha val="6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2"/>
            <p:cNvSpPr txBox="1"/>
            <p:nvPr/>
          </p:nvSpPr>
          <p:spPr>
            <a:xfrm>
              <a:off x="1662653" y="1495502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entury Gothic"/>
                <a:buNone/>
              </a:pPr>
              <a:r>
                <a:rPr lang="es-MX" sz="26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Felipe </a:t>
              </a:r>
              <a:r>
                <a:rPr lang="es-MX" sz="26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Galán</a:t>
              </a:r>
              <a:r>
                <a:rPr lang="es-MX" sz="26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 </a:t>
              </a:r>
              <a:r>
                <a:rPr lang="es-MX" sz="26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Fernández</a:t>
              </a:r>
              <a:r>
                <a:rPr lang="es-MX" sz="26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 </a:t>
              </a:r>
              <a:endParaRPr sz="2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entury Gothic"/>
                <a:buChar char="•"/>
              </a:pPr>
              <a:r>
                <a:rPr lang="es-MX" sz="20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Programador en jefe.</a:t>
              </a:r>
              <a:endPara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entury Gothic"/>
                <a:buChar char="•"/>
              </a:pPr>
              <a:r>
                <a:rPr lang="es-MX" sz="20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Programar </a:t>
              </a:r>
              <a:endPara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0" name="Google Shape;160;p2"/>
            <p:cNvSpPr/>
            <p:nvPr/>
          </p:nvSpPr>
          <p:spPr>
            <a:xfrm>
              <a:off x="135954" y="1631457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1CDD4"/>
            </a:solidFill>
            <a:ln>
              <a:noFill/>
            </a:ln>
            <a:effectLst>
              <a:outerShdw blurRad="63500" rotWithShape="0" dir="5400000" dist="38100">
                <a:srgbClr val="000000">
                  <a:alpha val="6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2"/>
            <p:cNvSpPr/>
            <p:nvPr/>
          </p:nvSpPr>
          <p:spPr>
            <a:xfrm>
              <a:off x="0" y="2991005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D98AB"/>
                </a:gs>
                <a:gs pos="100000">
                  <a:srgbClr val="41697A"/>
                </a:gs>
              </a:gsLst>
              <a:lin ang="5400000" scaled="0"/>
            </a:gradFill>
            <a:ln>
              <a:noFill/>
            </a:ln>
            <a:effectLst>
              <a:outerShdw blurRad="63500" rotWithShape="0" dir="5400000" dist="38100">
                <a:srgbClr val="000000">
                  <a:alpha val="6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2"/>
            <p:cNvSpPr txBox="1"/>
            <p:nvPr/>
          </p:nvSpPr>
          <p:spPr>
            <a:xfrm>
              <a:off x="1662653" y="2991005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entury Gothic"/>
                <a:buNone/>
              </a:pPr>
              <a:r>
                <a:rPr lang="es-MX" sz="26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Samuel Contreras Yevilao</a:t>
              </a:r>
              <a:endParaRPr sz="2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entury Gothic"/>
                <a:buChar char="•"/>
              </a:pPr>
              <a:r>
                <a:rPr lang="es-MX" sz="20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Scrum master </a:t>
              </a:r>
              <a:endPara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entury Gothic"/>
                <a:buChar char="•"/>
              </a:pPr>
              <a:r>
                <a:rPr lang="es-MX" sz="20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Supervisión del cumplimiento del marco ágil</a:t>
              </a:r>
              <a:endPara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3" name="Google Shape;163;p2"/>
            <p:cNvSpPr/>
            <p:nvPr/>
          </p:nvSpPr>
          <p:spPr>
            <a:xfrm>
              <a:off x="135954" y="3126960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1CDD4"/>
            </a:solidFill>
            <a:ln>
              <a:noFill/>
            </a:ln>
            <a:effectLst>
              <a:outerShdw blurRad="63500" rotWithShape="0" dir="5400000" dist="38100">
                <a:srgbClr val="000000">
                  <a:alpha val="6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4" name="Google Shape;164;p2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0E282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PROYECTO “</a:t>
            </a:r>
            <a:r>
              <a:rPr lang="es-MX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Sistema de Gestión de Pedidos para Restaurant SD</a:t>
            </a:r>
            <a:r>
              <a:rPr lang="es-MX" sz="1800">
                <a:solidFill>
                  <a:srgbClr val="0E282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”</a:t>
            </a:r>
            <a:endParaRPr/>
          </a:p>
        </p:txBody>
      </p:sp>
      <p:sp>
        <p:nvSpPr>
          <p:cNvPr id="165" name="Google Shape;165;p2"/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INTEGRANTES DEL PROYECTO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66" name="Google Shape;166;p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FEFED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ransition spd="slow">
    <p:wipe dir="l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71" name="Google Shape;17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3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0E282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PROYECTO “</a:t>
            </a:r>
            <a:r>
              <a:rPr lang="es-MX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Sistema de Gestión de Pedidos para Restaurant SDF</a:t>
            </a:r>
            <a:r>
              <a:rPr lang="es-MX" sz="1800">
                <a:solidFill>
                  <a:srgbClr val="0E282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”</a:t>
            </a:r>
            <a:endParaRPr/>
          </a:p>
        </p:txBody>
      </p:sp>
      <p:sp>
        <p:nvSpPr>
          <p:cNvPr id="173" name="Google Shape;173;p3"/>
          <p:cNvSpPr txBox="1"/>
          <p:nvPr/>
        </p:nvSpPr>
        <p:spPr>
          <a:xfrm>
            <a:off x="136188" y="954934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DESCRIPCIÓN DEL PROYECTO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74" name="Google Shape;174;p3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FEF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5" name="Google Shape;175;p3"/>
          <p:cNvSpPr/>
          <p:nvPr/>
        </p:nvSpPr>
        <p:spPr>
          <a:xfrm>
            <a:off x="136188" y="2066811"/>
            <a:ext cx="5172930" cy="4599208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rnd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 u="sng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Problema o dolor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u="sng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6" name="Google Shape;176;p3"/>
          <p:cNvSpPr/>
          <p:nvPr/>
        </p:nvSpPr>
        <p:spPr>
          <a:xfrm>
            <a:off x="6882882" y="2108123"/>
            <a:ext cx="5172930" cy="4583639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rnd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 u="sng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Propuesta de solución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es-MX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Desarrollo de un sistema digital de gestión de pedidos</a:t>
            </a:r>
            <a:r>
              <a:rPr lang="es-MX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accesible vía app/web.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es-MX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Módulo de Mesero</a:t>
            </a:r>
            <a:r>
              <a:rPr lang="es-MX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para crear pedidos rápidamente, seleccionar mesa, productos y enviar a cocina.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es-MX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Módulo de Cocina</a:t>
            </a:r>
            <a:r>
              <a:rPr lang="es-MX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para actualizar el estado de cada producto (pendiente → preparación → horno → listo).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es-MX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Módulo de Administración</a:t>
            </a:r>
            <a:r>
              <a:rPr lang="es-MX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para gestionar usuarios, roles y visualizar métricas.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es-MX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Integración con Supabase</a:t>
            </a:r>
            <a:r>
              <a:rPr lang="es-MX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como backend para manejo de datos en tiempo real.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es-MX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Actualización automática</a:t>
            </a:r>
            <a:r>
              <a:rPr lang="es-MX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del estado de los pedidos en todas las pantallas.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es-MX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Historial y trazabilidad completa</a:t>
            </a:r>
            <a:r>
              <a:rPr lang="es-MX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del ciclo del pedido.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es-MX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Interfaz intuitiva</a:t>
            </a:r>
            <a:r>
              <a:rPr lang="es-MX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reduciendo tiempos y errores humanos</a:t>
            </a:r>
            <a:r>
              <a:rPr lang="es-MX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/>
          </a:p>
        </p:txBody>
      </p:sp>
      <p:sp>
        <p:nvSpPr>
          <p:cNvPr id="177" name="Google Shape;177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rnd" cmpd="sng" w="19050">
            <a:solidFill>
              <a:srgbClr val="4A080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8" name="Google Shape;178;p3"/>
          <p:cNvSpPr/>
          <p:nvPr/>
        </p:nvSpPr>
        <p:spPr>
          <a:xfrm>
            <a:off x="277248" y="2951817"/>
            <a:ext cx="4678288" cy="33855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i="0" lang="es-MX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restaurante presenta lentitud en la gestión de pedidos, lo que afecta la atención al cliente.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i="0" lang="es-MX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Los meseros deben anotar pedidos de forma manual, generando errores, confusiones y pérdida de información.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i="0" lang="es-MX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existe un canal eficiente para comunicar pedidos a cocina, lo que produce: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i="0" lang="es-MX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Retrasos.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i="0" lang="es-MX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Órdenes mezcladas.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i="0" lang="es-MX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Falta de trazabilidad.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i="0" lang="es-MX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Los cocineros no tienen visibilidad clara del estado de cada producto solicitado.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i="0" lang="es-MX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existe un registro histórico que permita analizar el rendimiento del restaurante</a:t>
            </a:r>
            <a:r>
              <a:rPr i="0" lang="es-MX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83" name="Google Shape;18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4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0E282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PROYECTO “</a:t>
            </a:r>
            <a:r>
              <a:rPr lang="es-MX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Sistema de Gestión de Pedidos para Restaurant SDF</a:t>
            </a:r>
            <a:r>
              <a:rPr lang="es-MX" sz="1800">
                <a:solidFill>
                  <a:srgbClr val="0E282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”</a:t>
            </a:r>
            <a:endParaRPr/>
          </a:p>
        </p:txBody>
      </p:sp>
      <p:sp>
        <p:nvSpPr>
          <p:cNvPr id="185" name="Google Shape;185;p4"/>
          <p:cNvSpPr txBox="1"/>
          <p:nvPr/>
        </p:nvSpPr>
        <p:spPr>
          <a:xfrm>
            <a:off x="0" y="1384304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General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86" name="Google Shape;186;p4"/>
          <p:cNvCxnSpPr/>
          <p:nvPr/>
        </p:nvCxnSpPr>
        <p:spPr>
          <a:xfrm>
            <a:off x="0" y="738260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FEF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7" name="Google Shape;187;p4"/>
          <p:cNvSpPr txBox="1"/>
          <p:nvPr/>
        </p:nvSpPr>
        <p:spPr>
          <a:xfrm>
            <a:off x="1" y="4082446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Objetivos Específicos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8" name="Google Shape;188;p4"/>
          <p:cNvSpPr/>
          <p:nvPr/>
        </p:nvSpPr>
        <p:spPr>
          <a:xfrm>
            <a:off x="614515" y="2040571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rnd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 objetivo general del proyecto es desarrollar un sistema digital de gestión de pedidos para el Restaurant SDF que permita mejorar el flujo de trabajo entre meseros, cocina y administración, optimizando la toma de pedidos, agilizando la comunicación interna y asegurando un registro ordenado y centralizado de la información. Este sistema busca reducir errores en pedidos, disminuir tiempos de espera y mejorar la experiencia del cliente mediante una plataforma moderna, confiable y fácil de usar. Además, la solución pretende fortalecer la organización operativa del restaurante y aportar una herramienta tecnológica que facilite la toma de decisiones y aumente la eficiencia del servicio.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9" name="Google Shape;189;p4"/>
          <p:cNvSpPr/>
          <p:nvPr/>
        </p:nvSpPr>
        <p:spPr>
          <a:xfrm>
            <a:off x="614515" y="4879992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rnd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s-MX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Diseñar e implementar una interfaz para meseros que permita crear y enviar pedidos de manera rápida y segura.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s-MX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Desarrollar una vista para cocina que muestre las órdenes en tiempo real y permita actualizar el estado de cada producto.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s-MX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Integrar una base de datos en Supabase para almacenar pedidos, usuarios, productos y estados de preparación.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s-MX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Automatizar el flujo de comunicación entre mesero y cocina mediante actualizaciones dinámicas.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s-MX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Reducir errores en los pedidos mediante la digitalización y control del estado de cada ítem.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s-MX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Optimizar los tiempos de atención mediante un flujo más ordenado y eficiente.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s-MX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Proveer un sistema administrable, permitiendo gestionar usuarios y roles dentro de la plataforma.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94" name="Google Shape;19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5"/>
          <p:cNvSpPr txBox="1"/>
          <p:nvPr/>
        </p:nvSpPr>
        <p:spPr>
          <a:xfrm>
            <a:off x="98865" y="388695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0E282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PROYECTO “</a:t>
            </a:r>
            <a:r>
              <a:rPr lang="es-MX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Sistema de Gestión de Pedidos para Restaurant SDF</a:t>
            </a:r>
            <a:r>
              <a:rPr lang="es-MX" sz="1800">
                <a:solidFill>
                  <a:srgbClr val="0E282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”</a:t>
            </a:r>
            <a:endParaRPr/>
          </a:p>
        </p:txBody>
      </p:sp>
      <p:sp>
        <p:nvSpPr>
          <p:cNvPr id="196" name="Google Shape;196;p5"/>
          <p:cNvSpPr txBox="1"/>
          <p:nvPr/>
        </p:nvSpPr>
        <p:spPr>
          <a:xfrm>
            <a:off x="-485192" y="1330018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Alcances y limitaciones del proyecto</a:t>
            </a:r>
            <a:endParaRPr/>
          </a:p>
        </p:txBody>
      </p:sp>
      <p:cxnSp>
        <p:nvCxnSpPr>
          <p:cNvPr id="197" name="Google Shape;197;p5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FEF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8" name="Google Shape;198;p5"/>
          <p:cNvSpPr/>
          <p:nvPr/>
        </p:nvSpPr>
        <p:spPr>
          <a:xfrm>
            <a:off x="210833" y="2229059"/>
            <a:ext cx="5172930" cy="4599208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rnd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 u="sng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Alcance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MX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Desarrollo de un sistema digital de gestión de pedidos para el Restaurant SDF, permitiendo registrar órdenes, productos, estados y roles de usuario (mesero, cocina y administrador).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MX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Implementación de funcionalidades clave, como login, creación de pedidos, actualización de estados y vista de cocina con productos pendientes.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MX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Integración con Supabase como backend para manejar autenticación, base de datos y sincronización en tiempo real.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MX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Diseño de una interfaz organizada para mejorar la eficiencia del trabajo interno del restaurante.</a:t>
            </a:r>
            <a:endParaRPr/>
          </a:p>
          <a:p>
            <a:pPr indent="-184150" lvl="0" marL="28575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t/>
            </a:r>
            <a:endParaRPr sz="1600" u="sng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07950" lvl="0" marL="17145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t/>
            </a:r>
            <a:endParaRPr sz="1000" u="sng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6303722" y="2229059"/>
            <a:ext cx="5172930" cy="4599208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rnd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 u="sng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Limitaciones </a:t>
            </a:r>
            <a:endParaRPr sz="2400" u="sng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MX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 sistema se enfoca en funcionalidades esenciales, por lo que no incluye módulos avanzados como inventario, pago electrónico o reportes complejos.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MX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Dependencia del funcionamiento de </a:t>
            </a:r>
            <a:r>
              <a:rPr b="1" lang="es-MX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Supabase</a:t>
            </a:r>
            <a:r>
              <a:rPr lang="es-MX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lo que implica que fallas externas pueden afectar el servicio.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MX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 proyecto no contempla una implementación completa en entorno productivo (servidores reales, pruebas con clientes, infraestructura de red).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MX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Algunas mejoras de rendimiento, seguridad avanzada o escalabilidad quedan como trabajo futuro.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u="sng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04" name="Google Shape;20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6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0E282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PROYECTO “</a:t>
            </a:r>
            <a:r>
              <a:rPr lang="es-MX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Sistema de Gestión de Pedidos para Restaurant SDF</a:t>
            </a:r>
            <a:r>
              <a:rPr lang="es-MX" sz="1800">
                <a:solidFill>
                  <a:srgbClr val="0E282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”</a:t>
            </a:r>
            <a:endParaRPr/>
          </a:p>
        </p:txBody>
      </p:sp>
      <p:sp>
        <p:nvSpPr>
          <p:cNvPr id="206" name="Google Shape;206;p6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Metodología de trabajo para el desarrollo del proyecto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207" name="Google Shape;207;p6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FEF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8" name="Google Shape;208;p6"/>
          <p:cNvSpPr txBox="1"/>
          <p:nvPr/>
        </p:nvSpPr>
        <p:spPr>
          <a:xfrm>
            <a:off x="553652" y="3209731"/>
            <a:ext cx="11084700" cy="26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MX" sz="2000">
                <a:solidFill>
                  <a:schemeClr val="lt1"/>
                </a:solidFill>
              </a:rPr>
              <a:t>Metodología</a:t>
            </a:r>
            <a:r>
              <a:rPr b="1" lang="es-MX" sz="2000">
                <a:solidFill>
                  <a:schemeClr val="lt1"/>
                </a:solidFill>
              </a:rPr>
              <a:t> utilizada fue una </a:t>
            </a:r>
            <a:r>
              <a:rPr b="1" lang="es-MX" sz="2000">
                <a:solidFill>
                  <a:schemeClr val="lt1"/>
                </a:solidFill>
              </a:rPr>
              <a:t>híbrida</a:t>
            </a:r>
            <a:r>
              <a:rPr b="1" lang="es-MX" sz="2000">
                <a:solidFill>
                  <a:schemeClr val="lt1"/>
                </a:solidFill>
              </a:rPr>
              <a:t> entre la tradicional y agil:</a:t>
            </a:r>
            <a:endParaRPr b="1" sz="20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es-MX" sz="1700">
                <a:solidFill>
                  <a:schemeClr val="lt1"/>
                </a:solidFill>
              </a:rPr>
              <a:t>Combina elementos </a:t>
            </a:r>
            <a:r>
              <a:rPr b="1" lang="es-MX" sz="1700">
                <a:solidFill>
                  <a:schemeClr val="lt1"/>
                </a:solidFill>
              </a:rPr>
              <a:t>tradicionales</a:t>
            </a:r>
            <a:r>
              <a:rPr lang="es-MX" sz="1700">
                <a:solidFill>
                  <a:schemeClr val="lt1"/>
                </a:solidFill>
              </a:rPr>
              <a:t> (planificación inicial, definición clara de objetivos, roles y cronograma).</a:t>
            </a:r>
            <a:br>
              <a:rPr lang="es-MX" sz="1700">
                <a:solidFill>
                  <a:schemeClr val="lt1"/>
                </a:solidFill>
              </a:rPr>
            </a:b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es-MX" sz="1700">
                <a:solidFill>
                  <a:schemeClr val="lt1"/>
                </a:solidFill>
              </a:rPr>
              <a:t>Incorpora prácticas </a:t>
            </a:r>
            <a:r>
              <a:rPr b="1" lang="es-MX" sz="1700">
                <a:solidFill>
                  <a:schemeClr val="lt1"/>
                </a:solidFill>
              </a:rPr>
              <a:t>ágiles</a:t>
            </a:r>
            <a:r>
              <a:rPr lang="es-MX" sz="1700">
                <a:solidFill>
                  <a:schemeClr val="lt1"/>
                </a:solidFill>
              </a:rPr>
              <a:t> (iteraciones cortas, retroalimentación continua, ajustes frecuentes y entregas parciales).</a:t>
            </a:r>
            <a:br>
              <a:rPr lang="es-MX" sz="1700">
                <a:solidFill>
                  <a:schemeClr val="lt1"/>
                </a:solidFill>
              </a:rPr>
            </a:b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es-MX" sz="1700">
                <a:solidFill>
                  <a:schemeClr val="lt1"/>
                </a:solidFill>
              </a:rPr>
              <a:t>Permite mantener </a:t>
            </a:r>
            <a:r>
              <a:rPr b="1" lang="es-MX" sz="1700">
                <a:solidFill>
                  <a:schemeClr val="lt1"/>
                </a:solidFill>
              </a:rPr>
              <a:t>orden y control</a:t>
            </a:r>
            <a:r>
              <a:rPr lang="es-MX" sz="1700">
                <a:solidFill>
                  <a:schemeClr val="lt1"/>
                </a:solidFill>
              </a:rPr>
              <a:t>, sin perder la </a:t>
            </a:r>
            <a:r>
              <a:rPr b="1" lang="es-MX" sz="1700">
                <a:solidFill>
                  <a:schemeClr val="lt1"/>
                </a:solidFill>
              </a:rPr>
              <a:t>flexibilidad</a:t>
            </a:r>
            <a:r>
              <a:rPr lang="es-MX" sz="1700">
                <a:solidFill>
                  <a:schemeClr val="lt1"/>
                </a:solidFill>
              </a:rPr>
              <a:t> necesaria ante cambios técnicos y funcionales del proyecto.</a:t>
            </a:r>
            <a:endParaRPr sz="1700">
              <a:solidFill>
                <a:schemeClr val="lt1"/>
              </a:solidFill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13" name="Google Shape;21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7"/>
          <p:cNvSpPr txBox="1"/>
          <p:nvPr/>
        </p:nvSpPr>
        <p:spPr>
          <a:xfrm>
            <a:off x="-1" y="119259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0E282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PROYECTO “</a:t>
            </a:r>
            <a:r>
              <a:rPr lang="es-MX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Sistema de Gestión de Pedidos para Restaurant SDF</a:t>
            </a:r>
            <a:r>
              <a:rPr lang="es-MX" sz="1800">
                <a:solidFill>
                  <a:srgbClr val="0E282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”</a:t>
            </a:r>
            <a:endParaRPr/>
          </a:p>
        </p:txBody>
      </p:sp>
      <p:sp>
        <p:nvSpPr>
          <p:cNvPr id="215" name="Google Shape;215;p7"/>
          <p:cNvSpPr txBox="1"/>
          <p:nvPr/>
        </p:nvSpPr>
        <p:spPr>
          <a:xfrm>
            <a:off x="-80202" y="473951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Planificación Temporal</a:t>
            </a:r>
            <a:endParaRPr/>
          </a:p>
        </p:txBody>
      </p:sp>
      <p:cxnSp>
        <p:nvCxnSpPr>
          <p:cNvPr id="216" name="Google Shape;216;p7"/>
          <p:cNvCxnSpPr/>
          <p:nvPr/>
        </p:nvCxnSpPr>
        <p:spPr>
          <a:xfrm>
            <a:off x="-1" y="518830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FEFED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17" name="Google Shape;21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2" y="1075401"/>
            <a:ext cx="12192000" cy="45359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5364273"/>
            <a:ext cx="12192000" cy="1204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23" name="Google Shape;22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8"/>
          <p:cNvSpPr txBox="1"/>
          <p:nvPr/>
        </p:nvSpPr>
        <p:spPr>
          <a:xfrm>
            <a:off x="0" y="3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0E282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PROYECTO “</a:t>
            </a:r>
            <a:r>
              <a:rPr lang="es-MX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Sistema de Gestión de Pedidos para Restaurant SDF</a:t>
            </a:r>
            <a:r>
              <a:rPr lang="es-MX" sz="1800">
                <a:solidFill>
                  <a:srgbClr val="0E282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”</a:t>
            </a:r>
            <a:endParaRPr/>
          </a:p>
        </p:txBody>
      </p:sp>
      <p:sp>
        <p:nvSpPr>
          <p:cNvPr id="225" name="Google Shape;225;p8"/>
          <p:cNvSpPr txBox="1"/>
          <p:nvPr/>
        </p:nvSpPr>
        <p:spPr>
          <a:xfrm>
            <a:off x="-439200" y="444880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Arquitectura del software</a:t>
            </a:r>
            <a:endParaRPr/>
          </a:p>
        </p:txBody>
      </p:sp>
      <p:cxnSp>
        <p:nvCxnSpPr>
          <p:cNvPr id="226" name="Google Shape;226;p8"/>
          <p:cNvCxnSpPr/>
          <p:nvPr/>
        </p:nvCxnSpPr>
        <p:spPr>
          <a:xfrm>
            <a:off x="104400" y="44487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FEFED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27" name="Google Shape;227;p8"/>
          <p:cNvPicPr preferRelativeResize="0"/>
          <p:nvPr/>
        </p:nvPicPr>
        <p:blipFill rotWithShape="1">
          <a:blip r:embed="rId4">
            <a:alphaModFix/>
          </a:blip>
          <a:srcRect b="-1062" l="-2134" r="0" t="-1072"/>
          <a:stretch/>
        </p:blipFill>
        <p:spPr>
          <a:xfrm>
            <a:off x="3800025" y="1046950"/>
            <a:ext cx="4382508" cy="5738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32" name="Google Shape;23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9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0E282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PROYECTO “</a:t>
            </a:r>
            <a:r>
              <a:rPr lang="es-MX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Sistema de Gestión de Pedidos para Restaurant SDF</a:t>
            </a:r>
            <a:r>
              <a:rPr lang="es-MX" sz="1800">
                <a:solidFill>
                  <a:srgbClr val="0E282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”</a:t>
            </a:r>
            <a:endParaRPr/>
          </a:p>
        </p:txBody>
      </p:sp>
      <p:sp>
        <p:nvSpPr>
          <p:cNvPr id="234" name="Google Shape;234;p9"/>
          <p:cNvSpPr txBox="1"/>
          <p:nvPr/>
        </p:nvSpPr>
        <p:spPr>
          <a:xfrm>
            <a:off x="0" y="897680"/>
            <a:ext cx="12192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Arquitectura de la solución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5" name="Google Shape;235;p9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FEFED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36" name="Google Shape;236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59337" y="1669925"/>
            <a:ext cx="7073325" cy="511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41" name="Google Shape;24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10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0E282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PROYECTO “</a:t>
            </a:r>
            <a:r>
              <a:rPr lang="es-MX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Sistema de Gestión de Pedidos para Restaurant SDF</a:t>
            </a:r>
            <a:r>
              <a:rPr lang="es-MX" sz="1800">
                <a:solidFill>
                  <a:srgbClr val="0E282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”</a:t>
            </a:r>
            <a:endParaRPr/>
          </a:p>
        </p:txBody>
      </p:sp>
      <p:sp>
        <p:nvSpPr>
          <p:cNvPr id="243" name="Google Shape;243;p10"/>
          <p:cNvSpPr txBox="1"/>
          <p:nvPr/>
        </p:nvSpPr>
        <p:spPr>
          <a:xfrm>
            <a:off x="-83975" y="789004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Modelo de datos lógico </a:t>
            </a:r>
            <a:endParaRPr/>
          </a:p>
        </p:txBody>
      </p:sp>
      <p:cxnSp>
        <p:nvCxnSpPr>
          <p:cNvPr id="244" name="Google Shape;244;p10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FEFED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Diagrama&#10;&#10;El contenido generado por IA puede ser incorrecto." id="245" name="Google Shape;24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70456" y="1405281"/>
            <a:ext cx="7883135" cy="52451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50" name="Google Shape;25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1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0E282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PROYECTO “</a:t>
            </a:r>
            <a:r>
              <a:rPr lang="es-MX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Sistema de Gestión de Pedidos para Restaurant SDF</a:t>
            </a:r>
            <a:r>
              <a:rPr lang="es-MX" sz="1800">
                <a:solidFill>
                  <a:srgbClr val="0E282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”</a:t>
            </a:r>
            <a:endParaRPr/>
          </a:p>
        </p:txBody>
      </p:sp>
      <p:sp>
        <p:nvSpPr>
          <p:cNvPr id="252" name="Google Shape;252;p11"/>
          <p:cNvSpPr txBox="1"/>
          <p:nvPr/>
        </p:nvSpPr>
        <p:spPr>
          <a:xfrm>
            <a:off x="-1" y="797058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Modelo de datos Relacional </a:t>
            </a:r>
            <a:endParaRPr/>
          </a:p>
        </p:txBody>
      </p:sp>
      <p:cxnSp>
        <p:nvCxnSpPr>
          <p:cNvPr id="253" name="Google Shape;253;p11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FEFED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Diagrama&#10;&#10;El contenido generado por IA puede ser incorrecto." id="254" name="Google Shape;25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45240" y="1405449"/>
            <a:ext cx="7414580" cy="54414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59" name="Google Shape;259;g3a699b0e6da_3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g3a699b0e6da_3_0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0E282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PROYECTO “</a:t>
            </a:r>
            <a:r>
              <a:rPr lang="es-MX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Sistema de Gestión de Pedidos para Restaurant SDF</a:t>
            </a:r>
            <a:r>
              <a:rPr lang="es-MX" sz="1800">
                <a:solidFill>
                  <a:srgbClr val="0E282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”</a:t>
            </a:r>
            <a:endParaRPr/>
          </a:p>
        </p:txBody>
      </p:sp>
      <p:sp>
        <p:nvSpPr>
          <p:cNvPr id="261" name="Google Shape;261;g3a699b0e6da_3_0"/>
          <p:cNvSpPr txBox="1"/>
          <p:nvPr/>
        </p:nvSpPr>
        <p:spPr>
          <a:xfrm>
            <a:off x="-1" y="797058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Modelo de Objetos</a:t>
            </a:r>
            <a:endParaRPr/>
          </a:p>
        </p:txBody>
      </p:sp>
      <p:cxnSp>
        <p:nvCxnSpPr>
          <p:cNvPr id="262" name="Google Shape;262;g3a699b0e6da_3_0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FEFED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63" name="Google Shape;263;g3a699b0e6da_3_0" title="Modelo_objetos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92975" y="1502383"/>
            <a:ext cx="3405097" cy="51096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68" name="Google Shape;26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12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0E282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PROYECTO “</a:t>
            </a:r>
            <a:r>
              <a:rPr lang="es-MX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Sistema de Gestión de Pedidos para Restaurant SDF</a:t>
            </a:r>
            <a:r>
              <a:rPr lang="es-MX" sz="1800">
                <a:solidFill>
                  <a:srgbClr val="0E282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”</a:t>
            </a:r>
            <a:endParaRPr/>
          </a:p>
        </p:txBody>
      </p:sp>
      <p:sp>
        <p:nvSpPr>
          <p:cNvPr id="270" name="Google Shape;270;p12"/>
          <p:cNvSpPr txBox="1"/>
          <p:nvPr/>
        </p:nvSpPr>
        <p:spPr>
          <a:xfrm>
            <a:off x="72500" y="875467"/>
            <a:ext cx="121920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Elementos Analíticos a Incorporar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>
                <a:solidFill>
                  <a:srgbClr val="0E282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*¿Qué?, ¿Por qué?, ¿Cómo?, ¿Con qué Periodicidad?  (al menos 3)</a:t>
            </a:r>
            <a:endParaRPr/>
          </a:p>
        </p:txBody>
      </p:sp>
      <p:cxnSp>
        <p:nvCxnSpPr>
          <p:cNvPr id="271" name="Google Shape;271;p1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FEF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2" name="Google Shape;272;p12"/>
          <p:cNvSpPr txBox="1"/>
          <p:nvPr/>
        </p:nvSpPr>
        <p:spPr>
          <a:xfrm>
            <a:off x="0" y="2070200"/>
            <a:ext cx="5265900" cy="37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s-MX" sz="1700">
                <a:solidFill>
                  <a:schemeClr val="lt2"/>
                </a:solidFill>
              </a:rPr>
              <a:t>TCC – Tendencia de Comportamiento de Consumo</a:t>
            </a:r>
            <a:endParaRPr b="1" sz="1700">
              <a:solidFill>
                <a:schemeClr val="lt2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MX" sz="1200">
                <a:solidFill>
                  <a:schemeClr val="lt2"/>
                </a:solidFill>
              </a:rPr>
              <a:t>¿Qué?</a:t>
            </a:r>
            <a:endParaRPr b="1" sz="1200">
              <a:solidFill>
                <a:schemeClr val="lt2"/>
              </a:solidFill>
            </a:endParaRPr>
          </a:p>
          <a:p>
            <a:pPr indent="-304800" lvl="0" marL="4572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lang="es-MX" sz="1200">
                <a:solidFill>
                  <a:schemeClr val="lt2"/>
                </a:solidFill>
              </a:rPr>
              <a:t>Mide cómo evoluciona el consumo de alcohol y tabaco en el tiempo.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MX" sz="1200">
                <a:solidFill>
                  <a:schemeClr val="lt2"/>
                </a:solidFill>
              </a:rPr>
              <a:t>¿Por qué?</a:t>
            </a:r>
            <a:endParaRPr b="1" sz="1200">
              <a:solidFill>
                <a:schemeClr val="lt2"/>
              </a:solidFill>
            </a:endParaRPr>
          </a:p>
          <a:p>
            <a:pPr indent="-304800" lvl="0" marL="4572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lang="es-MX" sz="1200">
                <a:solidFill>
                  <a:schemeClr val="lt2"/>
                </a:solidFill>
              </a:rPr>
              <a:t>Permite detectar patrones, estacionalidad, cambios culturales y comportamientos anómalos.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MX" sz="1200">
                <a:solidFill>
                  <a:schemeClr val="lt2"/>
                </a:solidFill>
              </a:rPr>
              <a:t>¿Cómo?</a:t>
            </a:r>
            <a:endParaRPr b="1" sz="1200">
              <a:solidFill>
                <a:schemeClr val="lt2"/>
              </a:solidFill>
            </a:endParaRPr>
          </a:p>
          <a:p>
            <a:pPr indent="-304800" lvl="0" marL="4572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lang="es-MX" sz="1200">
                <a:solidFill>
                  <a:schemeClr val="lt2"/>
                </a:solidFill>
              </a:rPr>
              <a:t>Cálculo mensual del consumo, variación mes a mes y tendencia móvil de 3 meses.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MX" sz="1200">
                <a:solidFill>
                  <a:schemeClr val="lt2"/>
                </a:solidFill>
              </a:rPr>
              <a:t>¿Periodicidad?</a:t>
            </a:r>
            <a:endParaRPr b="1" sz="1200">
              <a:solidFill>
                <a:schemeClr val="lt2"/>
              </a:solidFill>
            </a:endParaRPr>
          </a:p>
          <a:p>
            <a:pPr indent="-304800" lvl="0" marL="4572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lang="es-MX" sz="1200">
                <a:solidFill>
                  <a:schemeClr val="lt2"/>
                </a:solidFill>
              </a:rPr>
              <a:t>Mensual (y análisis trimestral para tendencias).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MX" sz="1200">
                <a:solidFill>
                  <a:schemeClr val="lt2"/>
                </a:solidFill>
              </a:rPr>
              <a:t>Aporta a:</a:t>
            </a:r>
            <a:endParaRPr b="1" sz="1200">
              <a:solidFill>
                <a:schemeClr val="lt2"/>
              </a:solidFill>
            </a:endParaRPr>
          </a:p>
          <a:p>
            <a:pPr indent="-304800" lvl="0" marL="4572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lang="es-MX" sz="1200">
                <a:solidFill>
                  <a:schemeClr val="lt2"/>
                </a:solidFill>
              </a:rPr>
              <a:t>Mejor gestión de stock, personal, ambientación y decisiones sobre barra.</a:t>
            </a:r>
            <a:endParaRPr sz="1500">
              <a:solidFill>
                <a:srgbClr val="FFEFE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2"/>
          <p:cNvSpPr txBox="1"/>
          <p:nvPr/>
        </p:nvSpPr>
        <p:spPr>
          <a:xfrm>
            <a:off x="7585800" y="1952775"/>
            <a:ext cx="4606200" cy="45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MX" sz="1700">
                <a:solidFill>
                  <a:schemeClr val="lt1"/>
                </a:solidFill>
              </a:rPr>
              <a:t> CPG – Curva de Preferencia Gastronómica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MX" sz="1100">
                <a:solidFill>
                  <a:schemeClr val="lt1"/>
                </a:solidFill>
              </a:rPr>
              <a:t>¿Qué?</a:t>
            </a:r>
            <a:endParaRPr b="1" sz="1100">
              <a:solidFill>
                <a:schemeClr val="lt1"/>
              </a:solidFill>
            </a:endParaRPr>
          </a:p>
          <a:p>
            <a:pPr indent="-298450" lvl="0" marL="457200" rtl="0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s-MX" sz="1100">
                <a:solidFill>
                  <a:schemeClr val="lt1"/>
                </a:solidFill>
              </a:rPr>
              <a:t>Analiza la evolución de preferencias por tipo de comida.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MX" sz="1100">
                <a:solidFill>
                  <a:schemeClr val="lt1"/>
                </a:solidFill>
              </a:rPr>
              <a:t>¿Por qué?</a:t>
            </a:r>
            <a:endParaRPr b="1" sz="1100">
              <a:solidFill>
                <a:schemeClr val="lt1"/>
              </a:solidFill>
            </a:endParaRPr>
          </a:p>
          <a:p>
            <a:pPr indent="-298450" lvl="0" marL="457200" rtl="0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s-MX" sz="1100">
                <a:solidFill>
                  <a:schemeClr val="lt1"/>
                </a:solidFill>
              </a:rPr>
              <a:t>Permite anticipar tendencias culinarias, identificar caídas y reducir costos en inventario.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MX" sz="1100">
                <a:solidFill>
                  <a:schemeClr val="lt1"/>
                </a:solidFill>
              </a:rPr>
              <a:t>¿Cómo?</a:t>
            </a:r>
            <a:endParaRPr b="1" sz="1100">
              <a:solidFill>
                <a:schemeClr val="lt1"/>
              </a:solidFill>
            </a:endParaRPr>
          </a:p>
          <a:p>
            <a:pPr indent="-298450" lvl="0" marL="457200" rtl="0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s-MX" sz="1100">
                <a:solidFill>
                  <a:schemeClr val="lt1"/>
                </a:solidFill>
              </a:rPr>
              <a:t>Proporción mensual por categoría, velocidad de cambio y aceleración (predictivo).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MX" sz="1100">
                <a:solidFill>
                  <a:schemeClr val="lt1"/>
                </a:solidFill>
              </a:rPr>
              <a:t>Periodicidad:</a:t>
            </a:r>
            <a:endParaRPr b="1" sz="1100">
              <a:solidFill>
                <a:schemeClr val="lt1"/>
              </a:solidFill>
            </a:endParaRPr>
          </a:p>
          <a:p>
            <a:pPr indent="-298450" lvl="0" marL="457200" rtl="0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s-MX" sz="1100">
                <a:solidFill>
                  <a:schemeClr val="lt1"/>
                </a:solidFill>
              </a:rPr>
              <a:t>Mensual (con análisis comparativo).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MX" sz="1100">
                <a:solidFill>
                  <a:schemeClr val="lt1"/>
                </a:solidFill>
              </a:rPr>
              <a:t>Aporta a:</a:t>
            </a:r>
            <a:endParaRPr b="1" sz="1100">
              <a:solidFill>
                <a:schemeClr val="lt1"/>
              </a:solidFill>
            </a:endParaRPr>
          </a:p>
          <a:p>
            <a:pPr indent="-298450" lvl="0" marL="457200" rtl="0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s-MX" sz="1100">
                <a:solidFill>
                  <a:schemeClr val="lt1"/>
                </a:solidFill>
              </a:rPr>
              <a:t>Optimizar compras, ajustar menú, evitar inventario muerto.</a:t>
            </a:r>
            <a:endParaRPr sz="2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78" name="Google Shape;27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13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0E282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PROYECTO “</a:t>
            </a:r>
            <a:r>
              <a:rPr lang="es-MX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Sistema de Gestión de Pedidos para Restaurant SDF</a:t>
            </a:r>
            <a:r>
              <a:rPr lang="es-MX" sz="1800">
                <a:solidFill>
                  <a:srgbClr val="0E282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”</a:t>
            </a:r>
            <a:endParaRPr/>
          </a:p>
        </p:txBody>
      </p:sp>
      <p:sp>
        <p:nvSpPr>
          <p:cNvPr id="280" name="Google Shape;280;p13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Tecnologías utilizadas</a:t>
            </a:r>
            <a:endParaRPr/>
          </a:p>
        </p:txBody>
      </p:sp>
      <p:cxnSp>
        <p:nvCxnSpPr>
          <p:cNvPr id="281" name="Google Shape;281;p13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FEF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2" name="Google Shape;282;p13"/>
          <p:cNvSpPr/>
          <p:nvPr/>
        </p:nvSpPr>
        <p:spPr>
          <a:xfrm>
            <a:off x="323054" y="2211346"/>
            <a:ext cx="11590504" cy="4196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143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1" i="0" lang="es-MX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Flutter</a:t>
            </a:r>
            <a:r>
              <a:rPr b="0" i="0" lang="es-MX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– Framework principal para construir la aplicación móvil multiplataforma.</a:t>
            </a:r>
            <a:endParaRPr/>
          </a:p>
          <a:p>
            <a:pPr indent="-1143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1" i="0" lang="es-MX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Dart</a:t>
            </a:r>
            <a:r>
              <a:rPr b="0" i="0" lang="es-MX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– Lenguaje de programación utilizado en toda la lógica de la aplicación.</a:t>
            </a:r>
            <a:endParaRPr/>
          </a:p>
          <a:p>
            <a:pPr indent="-1143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1" lang="es-MX" sz="1800">
                <a:solidFill>
                  <a:schemeClr val="lt1"/>
                </a:solidFill>
              </a:rPr>
              <a:t>Supa Base</a:t>
            </a:r>
            <a:r>
              <a:rPr b="0" i="0" lang="es-MX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– Backend como servicio para autenticación, base de datos y Realtime.</a:t>
            </a:r>
            <a:endParaRPr/>
          </a:p>
          <a:p>
            <a:pPr indent="-1143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1" i="0" lang="es-MX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PostgreSQL (</a:t>
            </a:r>
            <a:r>
              <a:rPr b="1" lang="es-MX" sz="1800">
                <a:solidFill>
                  <a:schemeClr val="lt1"/>
                </a:solidFill>
              </a:rPr>
              <a:t>vía</a:t>
            </a:r>
            <a:r>
              <a:rPr b="1" i="0" lang="es-MX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s-MX" sz="1800">
                <a:solidFill>
                  <a:schemeClr val="lt1"/>
                </a:solidFill>
              </a:rPr>
              <a:t>Subbase</a:t>
            </a:r>
            <a:r>
              <a:rPr b="1" i="0" lang="es-MX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0" lang="es-MX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– Base de datos relacional usada para almacenar pedidos, usuarios y mesas.</a:t>
            </a:r>
            <a:endParaRPr/>
          </a:p>
          <a:p>
            <a:pPr indent="-1143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1" lang="es-MX" sz="1800">
                <a:solidFill>
                  <a:schemeClr val="lt1"/>
                </a:solidFill>
              </a:rPr>
              <a:t>Supa Base</a:t>
            </a:r>
            <a:r>
              <a:rPr b="1" i="0" lang="es-MX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Auth</a:t>
            </a:r>
            <a:r>
              <a:rPr b="0" i="0" lang="es-MX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– Sistema de autenticación segura con email y contraseña.</a:t>
            </a:r>
            <a:endParaRPr/>
          </a:p>
          <a:p>
            <a:pPr indent="-1143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1" lang="es-MX" sz="1800">
                <a:solidFill>
                  <a:schemeClr val="lt1"/>
                </a:solidFill>
              </a:rPr>
              <a:t>Supa Base</a:t>
            </a:r>
            <a:r>
              <a:rPr b="1" i="0" lang="es-MX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Realtime</a:t>
            </a:r>
            <a:r>
              <a:rPr b="0" i="0" lang="es-MX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– Notificaciones en tiempo real para actualización de estados de pedidos.</a:t>
            </a:r>
            <a:endParaRPr/>
          </a:p>
          <a:p>
            <a:pPr indent="-1143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1" lang="es-MX" sz="1800">
                <a:solidFill>
                  <a:schemeClr val="lt1"/>
                </a:solidFill>
              </a:rPr>
              <a:t>Supa Base</a:t>
            </a:r>
            <a:r>
              <a:rPr b="1" i="0" lang="es-MX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Storage</a:t>
            </a:r>
            <a:r>
              <a:rPr b="0" i="0" lang="es-MX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– Almacenamiento de archivos (si se necesita en futuras versiones).</a:t>
            </a:r>
            <a:endParaRPr/>
          </a:p>
          <a:p>
            <a:pPr indent="-1143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1" i="0" lang="es-MX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Git &amp; GitHub</a:t>
            </a:r>
            <a:r>
              <a:rPr b="0" i="0" lang="es-MX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– Control de versiones y trabajo colaborativo.</a:t>
            </a:r>
            <a:endParaRPr/>
          </a:p>
          <a:p>
            <a:pPr indent="-1143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1" i="0" lang="es-MX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VS Code / Android Studio</a:t>
            </a:r>
            <a:r>
              <a:rPr b="0" i="0" lang="es-MX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– Entornos de desarrollo utilizados.</a:t>
            </a:r>
            <a:endParaRPr/>
          </a:p>
          <a:p>
            <a:pPr indent="-1143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1" i="0" lang="es-MX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Figma </a:t>
            </a:r>
            <a:r>
              <a:rPr b="0" i="0" lang="es-MX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– Apoyo en diseño de interfaz y prototipado.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87" name="Google Shape;28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14"/>
          <p:cNvSpPr txBox="1"/>
          <p:nvPr/>
        </p:nvSpPr>
        <p:spPr>
          <a:xfrm>
            <a:off x="1" y="992895"/>
            <a:ext cx="12192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Resultados obtenidos</a:t>
            </a:r>
            <a:endParaRPr/>
          </a:p>
        </p:txBody>
      </p:sp>
      <p:pic>
        <p:nvPicPr>
          <p:cNvPr id="289" name="Google Shape;289;p14" title="tabla produc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2775" y="1941075"/>
            <a:ext cx="6151224" cy="167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14" title="imagen_2025-11-19_001250717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2775" y="3799626"/>
            <a:ext cx="3532927" cy="2989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14" title="Screenshot_2025-11-19-00-14-04-771_com.example.restaurantsdf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65575" y="1762399"/>
            <a:ext cx="3141398" cy="50262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96" name="Google Shape;29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15"/>
          <p:cNvSpPr txBox="1"/>
          <p:nvPr/>
        </p:nvSpPr>
        <p:spPr>
          <a:xfrm>
            <a:off x="1" y="1360773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Obstáculos presentados durante el desarrollo</a:t>
            </a:r>
            <a:endParaRPr/>
          </a:p>
        </p:txBody>
      </p:sp>
      <p:pic>
        <p:nvPicPr>
          <p:cNvPr descr="Businessman Waiting For Five O'clock (proporcionado por Getty Images)" id="298" name="Google Shape;29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64250" y="2734373"/>
            <a:ext cx="2829398" cy="36103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ecurity camera watching warehouse workers working in the storehouse (proporcionado por Getty Images)" id="299" name="Google Shape;299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91400" y="2879975"/>
            <a:ext cx="4976276" cy="3319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304" name="Google Shape;30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16"/>
          <p:cNvSpPr txBox="1"/>
          <p:nvPr/>
        </p:nvSpPr>
        <p:spPr>
          <a:xfrm>
            <a:off x="1" y="2707792"/>
            <a:ext cx="12191999" cy="1138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DEMOSTRACIÓN DEL RESULTADO DEL PROYECTO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>
                <a:solidFill>
                  <a:srgbClr val="0E282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*Exposición del sistema</a:t>
            </a:r>
            <a:endParaRPr sz="2400">
              <a:solidFill>
                <a:srgbClr val="0E282A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8"/>
          <p:cNvSpPr txBox="1"/>
          <p:nvPr>
            <p:ph type="title"/>
          </p:nvPr>
        </p:nvSpPr>
        <p:spPr>
          <a:xfrm>
            <a:off x="2639616" y="191683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s-MX"/>
              <a:t>Consultas y/o Comentarios</a:t>
            </a:r>
            <a:endParaRPr/>
          </a:p>
        </p:txBody>
      </p:sp>
      <p:pic>
        <p:nvPicPr>
          <p:cNvPr descr="foto_preguntas.jpg" id="311" name="Google Shape;31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99857" y="3356993"/>
            <a:ext cx="2143125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on">
  <a:themeElements>
    <a:clrScheme name="Ion">
      <a:dk1>
        <a:srgbClr val="000000"/>
      </a:dk1>
      <a:lt1>
        <a:srgbClr val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2023-10-28T21:12:11Z</dcterms:created>
  <dc:creator>Gerardo Galan Cruz</dc:creator>
</cp:coreProperties>
</file>