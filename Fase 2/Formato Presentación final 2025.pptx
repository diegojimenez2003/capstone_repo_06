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2000"/>
  <p:notesSz cx="6858000" cy="9144000"/>
  <p:embeddedFontLst>
    <p:embeddedFont>
      <p:font typeface="Century Gothic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6" roundtripDataSignature="AMtx7mhVEJc3tOJkk2sPhA1WJxVixVpL4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font" Target="fonts/CenturyGothic-regular.fntdata"/><Relationship Id="rId21" Type="http://schemas.openxmlformats.org/officeDocument/2006/relationships/slide" Target="slides/slide17.xml"/><Relationship Id="rId24" Type="http://schemas.openxmlformats.org/officeDocument/2006/relationships/font" Target="fonts/CenturyGothic-italic.fntdata"/><Relationship Id="rId23" Type="http://schemas.openxmlformats.org/officeDocument/2006/relationships/font" Target="fonts/CenturyGothic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customschemas.google.com/relationships/presentationmetadata" Target="metadata"/><Relationship Id="rId25" Type="http://schemas.openxmlformats.org/officeDocument/2006/relationships/font" Target="fonts/CenturyGothic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0"/>
          <p:cNvSpPr txBox="1"/>
          <p:nvPr>
            <p:ph type="ctrTitle"/>
          </p:nvPr>
        </p:nvSpPr>
        <p:spPr>
          <a:xfrm>
            <a:off x="1154955" y="1447800"/>
            <a:ext cx="8825658" cy="33295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7200"/>
              <a:buFont typeface="Century Gothic"/>
              <a:buNone/>
              <a:defRPr sz="7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0"/>
          <p:cNvSpPr txBox="1"/>
          <p:nvPr>
            <p:ph idx="1" type="subTitle"/>
          </p:nvPr>
        </p:nvSpPr>
        <p:spPr>
          <a:xfrm>
            <a:off x="1154955" y="4777380"/>
            <a:ext cx="8825658" cy="86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1000"/>
              </a:spcBef>
              <a:spcAft>
                <a:spcPts val="0"/>
              </a:spcAft>
              <a:buSzPts val="1600"/>
              <a:buNone/>
              <a:defRPr cap="none">
                <a:solidFill>
                  <a:srgbClr val="86D1D8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20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0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2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1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1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6" name="Google Shape;26;p2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2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2"/>
          <p:cNvSpPr txBox="1"/>
          <p:nvPr>
            <p:ph type="title"/>
          </p:nvPr>
        </p:nvSpPr>
        <p:spPr>
          <a:xfrm>
            <a:off x="1154956" y="2861733"/>
            <a:ext cx="8825657" cy="19156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2"/>
          <p:cNvSpPr txBox="1"/>
          <p:nvPr>
            <p:ph idx="1" type="body"/>
          </p:nvPr>
        </p:nvSpPr>
        <p:spPr>
          <a:xfrm>
            <a:off x="1154955" y="4777381"/>
            <a:ext cx="882565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" name="Google Shape;32;p2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3"/>
          <p:cNvSpPr txBox="1"/>
          <p:nvPr>
            <p:ph idx="1" type="body"/>
          </p:nvPr>
        </p:nvSpPr>
        <p:spPr>
          <a:xfrm>
            <a:off x="1103312" y="2060575"/>
            <a:ext cx="4396339" cy="41957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8" name="Google Shape;38;p23"/>
          <p:cNvSpPr txBox="1"/>
          <p:nvPr>
            <p:ph idx="2" type="body"/>
          </p:nvPr>
        </p:nvSpPr>
        <p:spPr>
          <a:xfrm>
            <a:off x="5654493" y="2056092"/>
            <a:ext cx="4396341" cy="42002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39" name="Google Shape;39;p2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2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4"/>
          <p:cNvSpPr txBox="1"/>
          <p:nvPr>
            <p:ph idx="1" type="body"/>
          </p:nvPr>
        </p:nvSpPr>
        <p:spPr>
          <a:xfrm>
            <a:off x="1103313" y="1905000"/>
            <a:ext cx="439633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45" name="Google Shape;45;p24"/>
          <p:cNvSpPr txBox="1"/>
          <p:nvPr>
            <p:ph idx="2" type="body"/>
          </p:nvPr>
        </p:nvSpPr>
        <p:spPr>
          <a:xfrm>
            <a:off x="1103312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46" name="Google Shape;46;p24"/>
          <p:cNvSpPr txBox="1"/>
          <p:nvPr>
            <p:ph idx="3" type="body"/>
          </p:nvPr>
        </p:nvSpPr>
        <p:spPr>
          <a:xfrm>
            <a:off x="5654495" y="1905000"/>
            <a:ext cx="439633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47" name="Google Shape;47;p24"/>
          <p:cNvSpPr txBox="1"/>
          <p:nvPr>
            <p:ph idx="4" type="body"/>
          </p:nvPr>
        </p:nvSpPr>
        <p:spPr>
          <a:xfrm>
            <a:off x="5654495" y="2514600"/>
            <a:ext cx="4396339" cy="37417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48" name="Google Shape;48;p2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5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7"/>
          <p:cNvSpPr txBox="1"/>
          <p:nvPr>
            <p:ph type="title"/>
          </p:nvPr>
        </p:nvSpPr>
        <p:spPr>
          <a:xfrm>
            <a:off x="1154953" y="1447800"/>
            <a:ext cx="3401064" cy="144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7"/>
          <p:cNvSpPr txBox="1"/>
          <p:nvPr>
            <p:ph idx="1" type="body"/>
          </p:nvPr>
        </p:nvSpPr>
        <p:spPr>
          <a:xfrm>
            <a:off x="4784616" y="1447800"/>
            <a:ext cx="5195997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30200" lvl="0" marL="457200" algn="l">
              <a:spcBef>
                <a:spcPts val="1000"/>
              </a:spcBef>
              <a:spcAft>
                <a:spcPts val="0"/>
              </a:spcAft>
              <a:buSzPts val="1600"/>
              <a:buChar char="►"/>
              <a:defRPr sz="2000"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2pPr>
            <a:lvl3pPr indent="-309880" lvl="2" marL="13716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3pPr>
            <a:lvl4pPr indent="-299719" lvl="3" marL="18288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4pPr>
            <a:lvl5pPr indent="-299720" lvl="4" marL="22860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5pPr>
            <a:lvl6pPr indent="-299720" lvl="5" marL="27432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6pPr>
            <a:lvl7pPr indent="-299720" lvl="6" marL="32004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7pPr>
            <a:lvl8pPr indent="-299720" lvl="7" marL="3657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8pPr>
            <a:lvl9pPr indent="-299720" lvl="8" marL="41148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9pPr>
          </a:lstStyle>
          <a:p/>
        </p:txBody>
      </p:sp>
      <p:sp>
        <p:nvSpPr>
          <p:cNvPr id="63" name="Google Shape;63;p27"/>
          <p:cNvSpPr txBox="1"/>
          <p:nvPr>
            <p:ph idx="2" type="body"/>
          </p:nvPr>
        </p:nvSpPr>
        <p:spPr>
          <a:xfrm>
            <a:off x="1154953" y="3129280"/>
            <a:ext cx="3401063" cy="2895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64" name="Google Shape;64;p27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7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8"/>
          <p:cNvSpPr txBox="1"/>
          <p:nvPr>
            <p:ph type="title"/>
          </p:nvPr>
        </p:nvSpPr>
        <p:spPr>
          <a:xfrm>
            <a:off x="1153907" y="1854192"/>
            <a:ext cx="5092906" cy="15748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8"/>
          <p:cNvSpPr/>
          <p:nvPr>
            <p:ph idx="2" type="pic"/>
          </p:nvPr>
        </p:nvSpPr>
        <p:spPr>
          <a:xfrm>
            <a:off x="6949546" y="1143000"/>
            <a:ext cx="3200400" cy="4572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70" name="Google Shape;70;p28"/>
          <p:cNvSpPr txBox="1"/>
          <p:nvPr>
            <p:ph idx="1" type="body"/>
          </p:nvPr>
        </p:nvSpPr>
        <p:spPr>
          <a:xfrm>
            <a:off x="1154954" y="3657600"/>
            <a:ext cx="5084979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71" name="Google Shape;71;p28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8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panorámica con descripción">
  <p:cSld name="Imagen panorámica con descripció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9"/>
          <p:cNvSpPr txBox="1"/>
          <p:nvPr>
            <p:ph type="title"/>
          </p:nvPr>
        </p:nvSpPr>
        <p:spPr>
          <a:xfrm>
            <a:off x="1154956" y="4800587"/>
            <a:ext cx="882565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9"/>
          <p:cNvSpPr/>
          <p:nvPr>
            <p:ph idx="2" type="pic"/>
          </p:nvPr>
        </p:nvSpPr>
        <p:spPr>
          <a:xfrm>
            <a:off x="1154955" y="685800"/>
            <a:ext cx="8825658" cy="3640666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77" name="Google Shape;77;p29"/>
          <p:cNvSpPr txBox="1"/>
          <p:nvPr>
            <p:ph idx="1" type="body"/>
          </p:nvPr>
        </p:nvSpPr>
        <p:spPr>
          <a:xfrm>
            <a:off x="1154956" y="5367325"/>
            <a:ext cx="8825656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78" name="Google Shape;78;p2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descripción">
  <p:cSld name="Título y descripción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0"/>
          <p:cNvSpPr txBox="1"/>
          <p:nvPr>
            <p:ph type="title"/>
          </p:nvPr>
        </p:nvSpPr>
        <p:spPr>
          <a:xfrm>
            <a:off x="1154954" y="1447800"/>
            <a:ext cx="8825659" cy="19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30"/>
          <p:cNvSpPr txBox="1"/>
          <p:nvPr>
            <p:ph idx="1" type="body"/>
          </p:nvPr>
        </p:nvSpPr>
        <p:spPr>
          <a:xfrm>
            <a:off x="1154954" y="3657600"/>
            <a:ext cx="8825659" cy="236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84" name="Google Shape;84;p30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0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ita con descripción">
  <p:cSld name="Cita con descripción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1"/>
          <p:cNvSpPr txBox="1"/>
          <p:nvPr>
            <p:ph type="title"/>
          </p:nvPr>
        </p:nvSpPr>
        <p:spPr>
          <a:xfrm>
            <a:off x="1574801" y="1447800"/>
            <a:ext cx="7999315" cy="23233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entury Gothic"/>
              <a:buNone/>
              <a:defRPr sz="4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31"/>
          <p:cNvSpPr txBox="1"/>
          <p:nvPr>
            <p:ph idx="1" type="body"/>
          </p:nvPr>
        </p:nvSpPr>
        <p:spPr>
          <a:xfrm>
            <a:off x="1930400" y="3771174"/>
            <a:ext cx="7279649" cy="342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b="0" i="0" sz="1400" cap="small">
                <a:solidFill>
                  <a:srgbClr val="86D1D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0" name="Google Shape;90;p31"/>
          <p:cNvSpPr txBox="1"/>
          <p:nvPr>
            <p:ph idx="2" type="body"/>
          </p:nvPr>
        </p:nvSpPr>
        <p:spPr>
          <a:xfrm>
            <a:off x="1154954" y="4350657"/>
            <a:ext cx="8825659" cy="16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31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1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  <p:sp>
        <p:nvSpPr>
          <p:cNvPr id="94" name="Google Shape;94;p3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2200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95" name="Google Shape;95;p31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2200">
                <a:solidFill>
                  <a:srgbClr val="86D1D8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rjeta de nombre">
  <p:cSld name="Tarjeta de nombre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2"/>
          <p:cNvSpPr txBox="1"/>
          <p:nvPr>
            <p:ph type="title"/>
          </p:nvPr>
        </p:nvSpPr>
        <p:spPr>
          <a:xfrm>
            <a:off x="1154954" y="3124201"/>
            <a:ext cx="8825660" cy="16531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32"/>
          <p:cNvSpPr txBox="1"/>
          <p:nvPr>
            <p:ph idx="1" type="body"/>
          </p:nvPr>
        </p:nvSpPr>
        <p:spPr>
          <a:xfrm>
            <a:off x="1154954" y="4777381"/>
            <a:ext cx="8825659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chemeClr val="lt1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chemeClr val="lt1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9" name="Google Shape;99;p32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32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3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3">
  <p:cSld name="Columna 3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3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33"/>
          <p:cNvSpPr txBox="1"/>
          <p:nvPr>
            <p:ph idx="1" type="body"/>
          </p:nvPr>
        </p:nvSpPr>
        <p:spPr>
          <a:xfrm>
            <a:off x="632947" y="1981200"/>
            <a:ext cx="2946866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5" name="Google Shape;105;p33"/>
          <p:cNvSpPr txBox="1"/>
          <p:nvPr>
            <p:ph idx="2" type="body"/>
          </p:nvPr>
        </p:nvSpPr>
        <p:spPr>
          <a:xfrm>
            <a:off x="652463" y="2667000"/>
            <a:ext cx="2927350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6" name="Google Shape;106;p33"/>
          <p:cNvSpPr txBox="1"/>
          <p:nvPr>
            <p:ph idx="3" type="body"/>
          </p:nvPr>
        </p:nvSpPr>
        <p:spPr>
          <a:xfrm>
            <a:off x="3883659" y="1981200"/>
            <a:ext cx="2936241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7" name="Google Shape;107;p33"/>
          <p:cNvSpPr txBox="1"/>
          <p:nvPr>
            <p:ph idx="4" type="body"/>
          </p:nvPr>
        </p:nvSpPr>
        <p:spPr>
          <a:xfrm>
            <a:off x="3873106" y="2667000"/>
            <a:ext cx="2946794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08" name="Google Shape;108;p33"/>
          <p:cNvSpPr txBox="1"/>
          <p:nvPr>
            <p:ph idx="5" type="body"/>
          </p:nvPr>
        </p:nvSpPr>
        <p:spPr>
          <a:xfrm>
            <a:off x="7124700" y="1981200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09" name="Google Shape;109;p33"/>
          <p:cNvSpPr txBox="1"/>
          <p:nvPr>
            <p:ph idx="6" type="body"/>
          </p:nvPr>
        </p:nvSpPr>
        <p:spPr>
          <a:xfrm>
            <a:off x="7124700" y="2667000"/>
            <a:ext cx="2932113" cy="3589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10" name="Google Shape;110;p33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33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" name="Google Shape;112;p33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33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umna de imagen 3">
  <p:cSld name="Columna de imagen 3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4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sz="42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4"/>
          <p:cNvSpPr txBox="1"/>
          <p:nvPr>
            <p:ph idx="1" type="body"/>
          </p:nvPr>
        </p:nvSpPr>
        <p:spPr>
          <a:xfrm>
            <a:off x="652463" y="4250949"/>
            <a:ext cx="294005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18" name="Google Shape;118;p34"/>
          <p:cNvSpPr/>
          <p:nvPr>
            <p:ph idx="2" type="pic"/>
          </p:nvPr>
        </p:nvSpPr>
        <p:spPr>
          <a:xfrm>
            <a:off x="652463" y="2209800"/>
            <a:ext cx="2940050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19" name="Google Shape;119;p34"/>
          <p:cNvSpPr txBox="1"/>
          <p:nvPr>
            <p:ph idx="3" type="body"/>
          </p:nvPr>
        </p:nvSpPr>
        <p:spPr>
          <a:xfrm>
            <a:off x="652463" y="4827211"/>
            <a:ext cx="2940050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0" name="Google Shape;120;p34"/>
          <p:cNvSpPr txBox="1"/>
          <p:nvPr>
            <p:ph idx="4" type="body"/>
          </p:nvPr>
        </p:nvSpPr>
        <p:spPr>
          <a:xfrm>
            <a:off x="3889375" y="4250949"/>
            <a:ext cx="293052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1" name="Google Shape;121;p34"/>
          <p:cNvSpPr/>
          <p:nvPr>
            <p:ph idx="5" type="pic"/>
          </p:nvPr>
        </p:nvSpPr>
        <p:spPr>
          <a:xfrm>
            <a:off x="3889374" y="2209800"/>
            <a:ext cx="2930525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22" name="Google Shape;122;p34"/>
          <p:cNvSpPr txBox="1"/>
          <p:nvPr>
            <p:ph idx="6" type="body"/>
          </p:nvPr>
        </p:nvSpPr>
        <p:spPr>
          <a:xfrm>
            <a:off x="3888022" y="4827210"/>
            <a:ext cx="2934406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23" name="Google Shape;123;p34"/>
          <p:cNvSpPr txBox="1"/>
          <p:nvPr>
            <p:ph idx="7" type="body"/>
          </p:nvPr>
        </p:nvSpPr>
        <p:spPr>
          <a:xfrm>
            <a:off x="7124700" y="4250949"/>
            <a:ext cx="293211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86D1D8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24" name="Google Shape;124;p34"/>
          <p:cNvSpPr/>
          <p:nvPr>
            <p:ph idx="8" type="pic"/>
          </p:nvPr>
        </p:nvSpPr>
        <p:spPr>
          <a:xfrm>
            <a:off x="7124699" y="2209800"/>
            <a:ext cx="2932113" cy="1524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25" name="Google Shape;125;p34"/>
          <p:cNvSpPr txBox="1"/>
          <p:nvPr>
            <p:ph idx="9" type="body"/>
          </p:nvPr>
        </p:nvSpPr>
        <p:spPr>
          <a:xfrm>
            <a:off x="7124575" y="4827208"/>
            <a:ext cx="2935997" cy="6591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126" name="Google Shape;126;p34"/>
          <p:cNvCxnSpPr/>
          <p:nvPr/>
        </p:nvCxnSpPr>
        <p:spPr>
          <a:xfrm>
            <a:off x="3726142" y="2133600"/>
            <a:ext cx="0" cy="3962400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7" name="Google Shape;127;p34"/>
          <p:cNvCxnSpPr/>
          <p:nvPr/>
        </p:nvCxnSpPr>
        <p:spPr>
          <a:xfrm>
            <a:off x="6962227" y="2133600"/>
            <a:ext cx="0" cy="3966882"/>
          </a:xfrm>
          <a:prstGeom prst="straightConnector1">
            <a:avLst/>
          </a:prstGeom>
          <a:noFill/>
          <a:ln cap="flat" cmpd="sng" w="12700">
            <a:solidFill>
              <a:srgbClr val="86D1D8">
                <a:alpha val="40000"/>
              </a:srgb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8" name="Google Shape;128;p34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3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5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1" type="body"/>
          </p:nvPr>
        </p:nvSpPr>
        <p:spPr>
          <a:xfrm rot="5400000">
            <a:off x="3478842" y="-322612"/>
            <a:ext cx="4195481" cy="89465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35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3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6"/>
          <p:cNvSpPr txBox="1"/>
          <p:nvPr>
            <p:ph type="title"/>
          </p:nvPr>
        </p:nvSpPr>
        <p:spPr>
          <a:xfrm rot="5400000">
            <a:off x="6267450" y="2466975"/>
            <a:ext cx="5826125" cy="17526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1" type="body"/>
          </p:nvPr>
        </p:nvSpPr>
        <p:spPr>
          <a:xfrm rot="5400000">
            <a:off x="1679576" y="-139699"/>
            <a:ext cx="5368924" cy="7423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36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36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6.xml"/><Relationship Id="rId22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5.xml"/><Relationship Id="rId21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8.xml"/><Relationship Id="rId12" Type="http://schemas.openxmlformats.org/officeDocument/2006/relationships/slideLayout" Target="../slideLayouts/slideLayout7.xml"/><Relationship Id="rId23" Type="http://schemas.openxmlformats.org/officeDocument/2006/relationships/theme" Target="../theme/theme2.xml"/><Relationship Id="rId1" Type="http://schemas.openxmlformats.org/officeDocument/2006/relationships/image" Target="../media/image5.png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9" Type="http://schemas.openxmlformats.org/officeDocument/2006/relationships/slideLayout" Target="../slideLayouts/slideLayout4.xml"/><Relationship Id="rId15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9.xml"/><Relationship Id="rId17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11.xml"/><Relationship Id="rId5" Type="http://schemas.openxmlformats.org/officeDocument/2006/relationships/image" Target="../media/image2.png"/><Relationship Id="rId19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.xml"/><Relationship Id="rId18" Type="http://schemas.openxmlformats.org/officeDocument/2006/relationships/slideLayout" Target="../slideLayouts/slideLayout13.xml"/><Relationship Id="rId7" Type="http://schemas.openxmlformats.org/officeDocument/2006/relationships/slideLayout" Target="../slideLayouts/slideLayout2.xml"/><Relationship Id="rId8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9"/>
          <p:cNvPicPr preferRelativeResize="0"/>
          <p:nvPr/>
        </p:nvPicPr>
        <p:blipFill rotWithShape="1">
          <a:blip r:embed="rId2">
            <a:alphaModFix/>
          </a:blip>
          <a:srcRect b="0" l="3613" r="0" t="0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p19"/>
          <p:cNvPicPr preferRelativeResize="0"/>
          <p:nvPr/>
        </p:nvPicPr>
        <p:blipFill rotWithShape="1">
          <a:blip r:embed="rId3">
            <a:alphaModFix/>
          </a:blip>
          <a:srcRect b="0" l="35640" r="0" t="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9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>
            <a:gsLst>
              <a:gs pos="0">
                <a:srgbClr val="4CB9C3">
                  <a:alpha val="6666"/>
                </a:srgbClr>
              </a:gs>
              <a:gs pos="36000">
                <a:srgbClr val="4CB9C3">
                  <a:alpha val="5882"/>
                </a:srgbClr>
              </a:gs>
              <a:gs pos="69000">
                <a:srgbClr val="4CB9C3">
                  <a:alpha val="0"/>
                </a:srgbClr>
              </a:gs>
              <a:gs pos="100000">
                <a:srgbClr val="4CB9C3">
                  <a:alpha val="0"/>
                </a:srgbClr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9" name="Google Shape;9;p19"/>
          <p:cNvPicPr preferRelativeResize="0"/>
          <p:nvPr/>
        </p:nvPicPr>
        <p:blipFill rotWithShape="1">
          <a:blip r:embed="rId4">
            <a:alphaModFix/>
          </a:blip>
          <a:srcRect b="0" l="0" r="0" t="28812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19"/>
          <p:cNvPicPr preferRelativeResize="0"/>
          <p:nvPr/>
        </p:nvPicPr>
        <p:blipFill rotWithShape="1">
          <a:blip r:embed="rId5">
            <a:alphaModFix/>
          </a:blip>
          <a:srcRect b="23320" l="0" r="0" t="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" name="Google Shape;12;p19"/>
          <p:cNvSpPr txBox="1"/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  <a:defRPr b="0" i="0" sz="4200" u="none" cap="none" strike="noStrik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19"/>
          <p:cNvSpPr txBox="1"/>
          <p:nvPr>
            <p:ph idx="1" type="body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30200" lvl="0" marL="4572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600"/>
              <a:buFont typeface="Noto Sans Symbols"/>
              <a:buChar char="►"/>
              <a:def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0040" lvl="1" marL="9144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09880" lvl="2" marL="13716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99719" lvl="3" marL="18288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99720" lvl="4" marL="22860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99720" lvl="5" marL="27432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99720" lvl="6" marL="32004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99720" lvl="7" marL="36576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99720" lvl="8" marL="4114800" marR="0" rtl="0" algn="l">
              <a:spcBef>
                <a:spcPts val="1000"/>
              </a:spcBef>
              <a:spcAft>
                <a:spcPts val="0"/>
              </a:spcAft>
              <a:buClr>
                <a:srgbClr val="86D1D8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4" name="Google Shape;14;p19"/>
          <p:cNvSpPr txBox="1"/>
          <p:nvPr>
            <p:ph idx="10" type="dt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5" name="Google Shape;15;p19"/>
          <p:cNvSpPr txBox="1"/>
          <p:nvPr>
            <p:ph idx="11" type="ftr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2800" u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  <p:sldLayoutId id="2147483660" r:id="rId17"/>
    <p:sldLayoutId id="2147483661" r:id="rId18"/>
    <p:sldLayoutId id="2147483662" r:id="rId19"/>
    <p:sldLayoutId id="2147483663" r:id="rId20"/>
    <p:sldLayoutId id="2147483664" r:id="rId21"/>
    <p:sldLayoutId id="2147483665" r:id="rId22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jp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jpg"/><Relationship Id="rId4" Type="http://schemas.openxmlformats.org/officeDocument/2006/relationships/image" Target="../media/image1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1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jp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jpg"/><Relationship Id="rId4" Type="http://schemas.openxmlformats.org/officeDocument/2006/relationships/image" Target="../media/image19.jpg"/><Relationship Id="rId5" Type="http://schemas.openxmlformats.org/officeDocument/2006/relationships/image" Target="../media/image15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7" name="Google Shape;14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"/>
          <p:cNvSpPr txBox="1"/>
          <p:nvPr/>
        </p:nvSpPr>
        <p:spPr>
          <a:xfrm>
            <a:off x="1" y="2707792"/>
            <a:ext cx="12192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</a:t>
            </a: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PRESENTACIÓN FINAL CAPSTONE</a:t>
            </a:r>
            <a:endParaRPr sz="24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3" name="Google Shape;15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4" name="Google Shape;154;p2"/>
          <p:cNvGrpSpPr/>
          <p:nvPr/>
        </p:nvGrpSpPr>
        <p:grpSpPr>
          <a:xfrm>
            <a:off x="4121026" y="1710819"/>
            <a:ext cx="7633494" cy="4350553"/>
            <a:chOff x="0" y="0"/>
            <a:chExt cx="7633494" cy="4350553"/>
          </a:xfrm>
        </p:grpSpPr>
        <p:sp>
          <p:nvSpPr>
            <p:cNvPr id="155" name="Google Shape;155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Diego Alejandro Jimenez Carvajal 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Lider de proyecto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Coordinación y alineación del equipo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57" name="Google Shape;157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Felipe 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Galán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 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Fernández</a:t>
              </a: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 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Programador en jefe.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Programar 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0" name="Google Shape;160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"/>
            <p:cNvSpPr/>
            <p:nvPr/>
          </p:nvSpPr>
          <p:spPr>
            <a:xfrm>
              <a:off x="0" y="2991005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D98AB"/>
                </a:gs>
                <a:gs pos="100000">
                  <a:srgbClr val="41697A"/>
                </a:gs>
              </a:gsLst>
              <a:lin ang="5400000" scaled="0"/>
            </a:gra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"/>
            <p:cNvSpPr txBox="1"/>
            <p:nvPr/>
          </p:nvSpPr>
          <p:spPr>
            <a:xfrm>
              <a:off x="1662653" y="2991005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entury Gothic"/>
                <a:buNone/>
              </a:pPr>
              <a:r>
                <a:rPr lang="es-MX" sz="26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Samuel Contreras Yevilao</a:t>
              </a:r>
              <a:endParaRPr sz="2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Scrum master 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entury Gothic"/>
                <a:buChar char="•"/>
              </a:pPr>
              <a:r>
                <a:rPr lang="es-MX" sz="2000">
                  <a:solidFill>
                    <a:schemeClr val="lt1"/>
                  </a:solidFill>
                  <a:latin typeface="Century Gothic"/>
                  <a:ea typeface="Century Gothic"/>
                  <a:cs typeface="Century Gothic"/>
                  <a:sym typeface="Century Gothic"/>
                </a:rPr>
                <a:t>Supervisión del cumplimiento del marco ágil</a:t>
              </a:r>
              <a:endParaRPr b="0" i="0" sz="2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endParaRPr>
            </a:p>
          </p:txBody>
        </p:sp>
        <p:sp>
          <p:nvSpPr>
            <p:cNvPr id="163" name="Google Shape;163;p2"/>
            <p:cNvSpPr/>
            <p:nvPr/>
          </p:nvSpPr>
          <p:spPr>
            <a:xfrm>
              <a:off x="135954" y="3126960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CDD4"/>
            </a:solidFill>
            <a:ln>
              <a:noFill/>
            </a:ln>
            <a:effectLst>
              <a:outerShdw blurRad="63500" rotWithShape="0" dir="5400000" dist="38100">
                <a:srgbClr val="000000">
                  <a:alpha val="6000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4" name="Google Shape;164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INTEGRANTES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66" name="Google Shape;166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1" name="Google Shape;17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73" name="Google Shape;173;p3"/>
          <p:cNvSpPr txBox="1"/>
          <p:nvPr/>
        </p:nvSpPr>
        <p:spPr>
          <a:xfrm>
            <a:off x="136188" y="95493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DESCRIPCIÓN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74" name="Google Shape;174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3"/>
          <p:cNvSpPr/>
          <p:nvPr/>
        </p:nvSpPr>
        <p:spPr>
          <a:xfrm>
            <a:off x="136188" y="2066811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 o dolor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p3"/>
          <p:cNvSpPr/>
          <p:nvPr/>
        </p:nvSpPr>
        <p:spPr>
          <a:xfrm>
            <a:off x="6882882" y="2108123"/>
            <a:ext cx="5172930" cy="4583639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Desarrollo de un sistema digital de gestión de pedidos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accesible vía app/web.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Mesero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crear pedidos rápidamente, seleccionar mesa, productos y enviar a cocina.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Cocina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actualizar el estado de cada producto (pendiente → preparación → horno → listo).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Módulo de Administración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para gestionar usuarios, roles y visualizar métricas.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 con Supabase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como backend para manejo de datos en tiempo real.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Actualización automática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del estado de los pedidos en todas las pantallas.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Historial y trazabilidad completa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del ciclo del pedido.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b="1"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Interfaz intuitiva</a:t>
            </a: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reduciendo tiempos y errores humanos</a:t>
            </a:r>
            <a:r>
              <a:rPr lang="es-MX" sz="18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</a:t>
            </a:r>
            <a:endParaRPr/>
          </a:p>
        </p:txBody>
      </p:sp>
      <p:sp>
        <p:nvSpPr>
          <p:cNvPr id="177" name="Google Shape;177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rnd" cmpd="sng" w="19050">
            <a:solidFill>
              <a:srgbClr val="4A080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8" name="Google Shape;178;p3"/>
          <p:cNvSpPr/>
          <p:nvPr/>
        </p:nvSpPr>
        <p:spPr>
          <a:xfrm>
            <a:off x="277248" y="2951817"/>
            <a:ext cx="4678288" cy="33855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restaurante presenta lentitud en la gestión de pedidos, lo que afecta la atención al cliente.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meseros deben anotar pedidos de forma manual, generando errores, confusiones y pérdida de información.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existe un canal eficiente para comunicar pedidos a cocina, lo que produce: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Retrasos.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Órdenes mezcladas.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Falta de trazabilidad.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cocineros no tienen visibilidad clara del estado de cada producto solicitado.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i="0" lang="es-MX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existe un registro histórico que permita analizar el rendimiento del restaurante</a:t>
            </a:r>
            <a:r>
              <a:rPr i="0" lang="es-MX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3" name="Google Shape;18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85" name="Google Shape;185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186" name="Google Shape;186;p4"/>
          <p:cNvCxnSpPr/>
          <p:nvPr/>
        </p:nvCxnSpPr>
        <p:spPr>
          <a:xfrm>
            <a:off x="0" y="738260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7" name="Google Shape;187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Específicos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8" name="Google Shape;188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objetivo general del proyecto es desarrollar un sistema digital de gestión de pedidos para el Restaurant SDF que permita mejorar el flujo de trabajo entre meseros, cocina y administración, optimizando la toma de pedidos, agilizando la comunicación interna y asegurando un registro ordenado y centralizado de la información. Este sistema busca reducir errores en pedidos, disminuir tiempos de espera y mejorar la experiencia del cliente mediante una plataforma moderna, confiable y fácil de usar. Además, la solución pretende fortalecer la organización operativa del restaurante y aportar una herramienta tecnológica que facilite la toma de decisiones y aumente la eficiencia del servicio.</a:t>
            </a:r>
            <a:endParaRPr sz="12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89" name="Google Shape;189;p4"/>
          <p:cNvSpPr/>
          <p:nvPr/>
        </p:nvSpPr>
        <p:spPr>
          <a:xfrm>
            <a:off x="614515" y="4879992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Diseñar e implementar una interfaz para meseros que permita crear y enviar pedidos de manera rápida y segura.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Desarrollar una vista para cocina que muestre las órdenes en tiempo real y permita actualizar el estado de cada producto.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Integrar una base de datos en Supabase para almacenar pedidos, usuarios, productos y estados de preparación.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Automatizar el flujo de comunicación entre mesero y cocina mediante actualizaciones dinámicas.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Reducir errores en los pedidos mediante la digitalización y control del estado de cada ítem.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Optimizar los tiempos de atención mediante un flujo más ordenado y eficiente.</a:t>
            </a:r>
            <a:endParaRPr/>
          </a:p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s-MX" sz="12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Proveer un sistema administrable, permitiendo gestionar usuarios y roles dentro de la plataforma.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4" name="Google Shape;19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5"/>
          <p:cNvSpPr txBox="1"/>
          <p:nvPr/>
        </p:nvSpPr>
        <p:spPr>
          <a:xfrm>
            <a:off x="98865" y="388695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-485192" y="1330018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Alcances y limitaciones del proyecto</a:t>
            </a:r>
            <a:endParaRPr/>
          </a:p>
        </p:txBody>
      </p:sp>
      <p:cxnSp>
        <p:nvCxnSpPr>
          <p:cNvPr id="197" name="Google Shape;197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" name="Google Shape;198;p5"/>
          <p:cNvSpPr/>
          <p:nvPr/>
        </p:nvSpPr>
        <p:spPr>
          <a:xfrm>
            <a:off x="210833" y="2229059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Alcance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Desarrollo de un sistema digital de gestión de pedidos para el Restaurant SDF, permitiendo registrar órdenes, productos, estados y roles de usuario (mesero, cocina y administrador).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Implementación de funcionalidades clave, como login, creación de pedidos, actualización de estados y vista de cocina con productos pendientes.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 con Supabase como backend para manejar autenticación, base de datos y sincronización en tiempo real.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Diseño de una interfaz organizada para mejorar la eficiencia del trabajo interno del restaurante.</a:t>
            </a:r>
            <a:endParaRPr/>
          </a:p>
          <a:p>
            <a:pPr indent="-184150" lvl="0" marL="28575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t/>
            </a:r>
            <a:endParaRPr sz="16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107950" lvl="0" marL="171450" marR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t/>
            </a:r>
            <a:endParaRPr sz="10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6303722" y="2229059"/>
            <a:ext cx="5172930" cy="4599208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rnd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 u="sng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Limitaciones </a:t>
            </a:r>
            <a:endParaRPr sz="2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sistema se enfoca en funcionalidades esenciales, por lo que no incluye módulos avanzados como inventario, pago electrónico o reportes complejos.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Dependencia del funcionamiento de </a:t>
            </a:r>
            <a:r>
              <a:rPr b="1"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Supabase</a:t>
            </a: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, lo que implica que fallas externas pueden afectar el servicio.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 proyecto no contempla una implementación completa en entorno productivo (servidores reales, pruebas con clientes, infraestructura de red).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s-MX" sz="1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Algunas mejoras de rendimiento, seguridad avanzada o escalabilidad quedan como trabajo futuro.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4" name="Google Shape;20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06" name="Google Shape;206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 de trabajo para el desarrollo del proyecto</a:t>
            </a:r>
            <a:endParaRPr sz="18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cxnSp>
        <p:nvCxnSpPr>
          <p:cNvPr id="207" name="Google Shape;207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6"/>
          <p:cNvSpPr txBox="1"/>
          <p:nvPr/>
        </p:nvSpPr>
        <p:spPr>
          <a:xfrm>
            <a:off x="553652" y="3209731"/>
            <a:ext cx="11084700" cy="26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2000">
                <a:solidFill>
                  <a:schemeClr val="lt1"/>
                </a:solidFill>
              </a:rPr>
              <a:t>Metodología</a:t>
            </a:r>
            <a:r>
              <a:rPr b="1" lang="es-MX" sz="2000">
                <a:solidFill>
                  <a:schemeClr val="lt1"/>
                </a:solidFill>
              </a:rPr>
              <a:t> utilizada fue una </a:t>
            </a:r>
            <a:r>
              <a:rPr b="1" lang="es-MX" sz="2000">
                <a:solidFill>
                  <a:schemeClr val="lt1"/>
                </a:solidFill>
              </a:rPr>
              <a:t>híbrida</a:t>
            </a:r>
            <a:r>
              <a:rPr b="1" lang="es-MX" sz="2000">
                <a:solidFill>
                  <a:schemeClr val="lt1"/>
                </a:solidFill>
              </a:rPr>
              <a:t> entre la tradicional y agil:</a:t>
            </a:r>
            <a:endParaRPr b="1" sz="20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-MX" sz="1700">
                <a:solidFill>
                  <a:schemeClr val="lt1"/>
                </a:solidFill>
              </a:rPr>
              <a:t>Combina elementos </a:t>
            </a:r>
            <a:r>
              <a:rPr b="1" lang="es-MX" sz="1700">
                <a:solidFill>
                  <a:schemeClr val="lt1"/>
                </a:solidFill>
              </a:rPr>
              <a:t>tradicionales</a:t>
            </a:r>
            <a:r>
              <a:rPr lang="es-MX" sz="1700">
                <a:solidFill>
                  <a:schemeClr val="lt1"/>
                </a:solidFill>
              </a:rPr>
              <a:t> (planificación inicial, definición clara de objetivos, roles y cronograma).</a:t>
            </a:r>
            <a:br>
              <a:rPr lang="es-MX" sz="1700">
                <a:solidFill>
                  <a:schemeClr val="lt1"/>
                </a:solidFill>
              </a:rPr>
            </a:b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-MX" sz="1700">
                <a:solidFill>
                  <a:schemeClr val="lt1"/>
                </a:solidFill>
              </a:rPr>
              <a:t>Incorpora prácticas </a:t>
            </a:r>
            <a:r>
              <a:rPr b="1" lang="es-MX" sz="1700">
                <a:solidFill>
                  <a:schemeClr val="lt1"/>
                </a:solidFill>
              </a:rPr>
              <a:t>ágiles</a:t>
            </a:r>
            <a:r>
              <a:rPr lang="es-MX" sz="1700">
                <a:solidFill>
                  <a:schemeClr val="lt1"/>
                </a:solidFill>
              </a:rPr>
              <a:t> (iteraciones cortas, retroalimentación continua, ajustes frecuentes y entregas parciales).</a:t>
            </a:r>
            <a:br>
              <a:rPr lang="es-MX" sz="1700">
                <a:solidFill>
                  <a:schemeClr val="lt1"/>
                </a:solidFill>
              </a:rPr>
            </a:br>
            <a:endParaRPr sz="1700">
              <a:solidFill>
                <a:schemeClr val="lt1"/>
              </a:solidFill>
            </a:endParaRPr>
          </a:p>
          <a:p>
            <a:pPr indent="-3365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</a:pPr>
            <a:r>
              <a:rPr lang="es-MX" sz="1700">
                <a:solidFill>
                  <a:schemeClr val="lt1"/>
                </a:solidFill>
              </a:rPr>
              <a:t>Permite mantener </a:t>
            </a:r>
            <a:r>
              <a:rPr b="1" lang="es-MX" sz="1700">
                <a:solidFill>
                  <a:schemeClr val="lt1"/>
                </a:solidFill>
              </a:rPr>
              <a:t>orden y control</a:t>
            </a:r>
            <a:r>
              <a:rPr lang="es-MX" sz="1700">
                <a:solidFill>
                  <a:schemeClr val="lt1"/>
                </a:solidFill>
              </a:rPr>
              <a:t>, sin perder la </a:t>
            </a:r>
            <a:r>
              <a:rPr b="1" lang="es-MX" sz="1700">
                <a:solidFill>
                  <a:schemeClr val="lt1"/>
                </a:solidFill>
              </a:rPr>
              <a:t>flexibilidad</a:t>
            </a:r>
            <a:r>
              <a:rPr lang="es-MX" sz="1700">
                <a:solidFill>
                  <a:schemeClr val="lt1"/>
                </a:solidFill>
              </a:rPr>
              <a:t> necesaria ante cambios técnicos y funcionales del proyecto.</a:t>
            </a:r>
            <a:endParaRPr sz="1700"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3" name="Google Shape;2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7"/>
          <p:cNvSpPr txBox="1"/>
          <p:nvPr/>
        </p:nvSpPr>
        <p:spPr>
          <a:xfrm>
            <a:off x="-1" y="119259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15" name="Google Shape;215;p7"/>
          <p:cNvSpPr txBox="1"/>
          <p:nvPr/>
        </p:nvSpPr>
        <p:spPr>
          <a:xfrm>
            <a:off x="-80202" y="473951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Planificación Temporal</a:t>
            </a:r>
            <a:endParaRPr/>
          </a:p>
        </p:txBody>
      </p:sp>
      <p:cxnSp>
        <p:nvCxnSpPr>
          <p:cNvPr id="216" name="Google Shape;216;p7"/>
          <p:cNvCxnSpPr/>
          <p:nvPr/>
        </p:nvCxnSpPr>
        <p:spPr>
          <a:xfrm>
            <a:off x="-1" y="518830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17" name="Google Shape;217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2" y="1075401"/>
            <a:ext cx="12192000" cy="45359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5364273"/>
            <a:ext cx="12192000" cy="12044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23" name="Google Shape;22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8"/>
          <p:cNvSpPr txBox="1"/>
          <p:nvPr/>
        </p:nvSpPr>
        <p:spPr>
          <a:xfrm>
            <a:off x="0" y="3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25" name="Google Shape;225;p8"/>
          <p:cNvSpPr txBox="1"/>
          <p:nvPr/>
        </p:nvSpPr>
        <p:spPr>
          <a:xfrm>
            <a:off x="-439200" y="444880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Arquitectura del software</a:t>
            </a:r>
            <a:endParaRPr/>
          </a:p>
        </p:txBody>
      </p:sp>
      <p:cxnSp>
        <p:nvCxnSpPr>
          <p:cNvPr id="226" name="Google Shape;226;p8"/>
          <p:cNvCxnSpPr/>
          <p:nvPr/>
        </p:nvCxnSpPr>
        <p:spPr>
          <a:xfrm>
            <a:off x="104400" y="44487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27" name="Google Shape;227;p8"/>
          <p:cNvPicPr preferRelativeResize="0"/>
          <p:nvPr/>
        </p:nvPicPr>
        <p:blipFill rotWithShape="1">
          <a:blip r:embed="rId4">
            <a:alphaModFix/>
          </a:blip>
          <a:srcRect b="-1062" l="-2134" r="0" t="-1072"/>
          <a:stretch/>
        </p:blipFill>
        <p:spPr>
          <a:xfrm>
            <a:off x="3800025" y="1046950"/>
            <a:ext cx="4382508" cy="5738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32" name="Google Shape;23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34" name="Google Shape;234;p9"/>
          <p:cNvSpPr txBox="1"/>
          <p:nvPr/>
        </p:nvSpPr>
        <p:spPr>
          <a:xfrm>
            <a:off x="0" y="897680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Arquitectura de la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5" name="Google Shape;235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36" name="Google Shape;23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59337" y="1669925"/>
            <a:ext cx="7073325" cy="511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41" name="Google Shape;241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43" name="Google Shape;243;p10"/>
          <p:cNvSpPr txBox="1"/>
          <p:nvPr/>
        </p:nvSpPr>
        <p:spPr>
          <a:xfrm>
            <a:off x="-83975" y="7890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Modelo de datos lógico </a:t>
            </a:r>
            <a:endParaRPr/>
          </a:p>
        </p:txBody>
      </p:sp>
      <p:cxnSp>
        <p:nvCxnSpPr>
          <p:cNvPr id="244" name="Google Shape;244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Diagrama&#10;&#10;El contenido generado por IA puede ser incorrecto." id="245" name="Google Shape;24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70456" y="1405281"/>
            <a:ext cx="7883135" cy="52451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50" name="Google Shape;25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1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52" name="Google Shape;252;p11"/>
          <p:cNvSpPr txBox="1"/>
          <p:nvPr/>
        </p:nvSpPr>
        <p:spPr>
          <a:xfrm>
            <a:off x="-1" y="797058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Modelo de datos Relacional </a:t>
            </a:r>
            <a:endParaRPr/>
          </a:p>
        </p:txBody>
      </p:sp>
      <p:cxnSp>
        <p:nvCxnSpPr>
          <p:cNvPr id="253" name="Google Shape;253;p11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descr="Diagrama&#10;&#10;El contenido generado por IA puede ser incorrecto." id="254" name="Google Shape;25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345240" y="1405449"/>
            <a:ext cx="7414580" cy="54414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59" name="Google Shape;25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61" name="Google Shape;261;p12"/>
          <p:cNvSpPr txBox="1"/>
          <p:nvPr/>
        </p:nvSpPr>
        <p:spPr>
          <a:xfrm>
            <a:off x="72500" y="875467"/>
            <a:ext cx="121920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Elementos Analíticos a Incorporar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*¿Qué?, ¿Por qué?, ¿Cómo?, ¿Con qué Periodicidad?  (al menos 3)</a:t>
            </a:r>
            <a:endParaRPr/>
          </a:p>
        </p:txBody>
      </p:sp>
      <p:cxnSp>
        <p:nvCxnSpPr>
          <p:cNvPr id="262" name="Google Shape;262;p1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12"/>
          <p:cNvSpPr txBox="1"/>
          <p:nvPr/>
        </p:nvSpPr>
        <p:spPr>
          <a:xfrm>
            <a:off x="0" y="2070200"/>
            <a:ext cx="5265900" cy="37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s-MX" sz="1700">
                <a:solidFill>
                  <a:schemeClr val="lt2"/>
                </a:solidFill>
              </a:rPr>
              <a:t>TCC – Tendencia de Comportamiento de Consumo</a:t>
            </a:r>
            <a:endParaRPr b="1" sz="17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¿Qué?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Mide cómo evoluciona el consumo de alcohol y tabaco en el tiempo.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¿Por qué?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Permite detectar patrones, estacionalidad, cambios culturales y comportamientos anómalos.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¿Cómo?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Cálculo mensual del consumo, variación mes a mes y tendencia móvil de 3 meses.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¿Periodicidad?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Mensual (y análisis trimestral para tendencias).</a:t>
            </a:r>
            <a:endParaRPr sz="1200">
              <a:solidFill>
                <a:schemeClr val="lt2"/>
              </a:solidFill>
            </a:endParaRPr>
          </a:p>
          <a:p>
            <a:pPr indent="0" lvl="0" marL="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MX" sz="1200">
                <a:solidFill>
                  <a:schemeClr val="lt2"/>
                </a:solidFill>
              </a:rPr>
              <a:t>Aporta a:</a:t>
            </a:r>
            <a:endParaRPr b="1" sz="1200">
              <a:solidFill>
                <a:schemeClr val="lt2"/>
              </a:solidFill>
            </a:endParaRPr>
          </a:p>
          <a:p>
            <a:pPr indent="-304800" lvl="0" marL="457200" rtl="0" algn="just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</a:pPr>
            <a:r>
              <a:rPr lang="es-MX" sz="1200">
                <a:solidFill>
                  <a:schemeClr val="lt2"/>
                </a:solidFill>
              </a:rPr>
              <a:t>Mejor gestión de stock, personal, ambientación y decisiones sobre barra.</a:t>
            </a:r>
            <a:endParaRPr sz="1500">
              <a:solidFill>
                <a:srgbClr val="FFEFE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2"/>
          <p:cNvSpPr txBox="1"/>
          <p:nvPr/>
        </p:nvSpPr>
        <p:spPr>
          <a:xfrm>
            <a:off x="7585800" y="1952775"/>
            <a:ext cx="4606200" cy="4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700">
                <a:solidFill>
                  <a:schemeClr val="lt1"/>
                </a:solidFill>
              </a:rPr>
              <a:t> CPG – Curva de Preferencia Gastronómica</a:t>
            </a:r>
            <a:endParaRPr b="1" sz="17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¿Qué?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Analiza la evolución de preferencias por tipo de comida.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¿Por qué?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Permite anticipar tendencias culinarias, identificar caídas y reducir costos en inventario.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¿Cómo?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Proporción mensual por categoría, velocidad de cambio y aceleración (predictivo).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Periodicidad: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Mensual (con análisis comparativo).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MX" sz="1100">
                <a:solidFill>
                  <a:schemeClr val="lt1"/>
                </a:solidFill>
              </a:rPr>
              <a:t>Aporta a: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r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lang="es-MX" sz="1100">
                <a:solidFill>
                  <a:schemeClr val="lt1"/>
                </a:solidFill>
              </a:rPr>
              <a:t>Optimizar compras, ajustar menú, evitar inventario muerto.</a:t>
            </a:r>
            <a:endParaRPr sz="2000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69" name="Google Shape;26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1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PROYECTO “</a:t>
            </a:r>
            <a:r>
              <a:rPr lang="es-MX" sz="18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Sistema de Gestión de Pedidos para Restaurant SDF</a:t>
            </a:r>
            <a:r>
              <a:rPr lang="es-MX" sz="18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  <p:sp>
        <p:nvSpPr>
          <p:cNvPr id="271" name="Google Shape;271;p13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Tecnologías utilizadas</a:t>
            </a:r>
            <a:endParaRPr/>
          </a:p>
        </p:txBody>
      </p:sp>
      <p:cxnSp>
        <p:nvCxnSpPr>
          <p:cNvPr id="272" name="Google Shape;272;p1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FEFE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3" name="Google Shape;273;p13"/>
          <p:cNvSpPr/>
          <p:nvPr/>
        </p:nvSpPr>
        <p:spPr>
          <a:xfrm>
            <a:off x="323054" y="2211346"/>
            <a:ext cx="11590504" cy="41960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Flutter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Framework principal para construir la aplicación móvil multiplataforma.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Dart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Lenguaje de programación utilizado en toda la lógica de la aplicación.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</a:rPr>
              <a:t>Supa Base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Backend como servicio para autenticación, base de datos y Realtime.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PostgreSQL (</a:t>
            </a:r>
            <a:r>
              <a:rPr b="1" lang="es-MX" sz="1800">
                <a:solidFill>
                  <a:schemeClr val="lt1"/>
                </a:solidFill>
              </a:rPr>
              <a:t>vía</a:t>
            </a: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s-MX" sz="1800">
                <a:solidFill>
                  <a:schemeClr val="lt1"/>
                </a:solidFill>
              </a:rPr>
              <a:t>Subbase</a:t>
            </a: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Base de datos relacional usada para almacenar pedidos, usuarios y mesas.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</a:rPr>
              <a:t>Supa Base</a:t>
            </a: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Auth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Sistema de autenticación segura con email y contraseña.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</a:rPr>
              <a:t>Supa Base</a:t>
            </a: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Realtime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Notificaciones en tiempo real para actualización de estados de pedidos.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</a:rPr>
              <a:t>Supa Base</a:t>
            </a: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Storage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Almacenamiento de archivos (si se necesita en futuras versiones).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&amp; GitHub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Control de versiones y trabajo colaborativo.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 Code / Android Studio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Entornos de desarrollo utilizados.</a:t>
            </a:r>
            <a:endParaRPr/>
          </a:p>
          <a:p>
            <a:pPr indent="-11430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Figma </a:t>
            </a:r>
            <a:r>
              <a:rPr b="0" i="0" lang="es-MX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– Apoyo en diseño de interfaz y prototipado.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78" name="Google Shape;27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14"/>
          <p:cNvSpPr txBox="1"/>
          <p:nvPr/>
        </p:nvSpPr>
        <p:spPr>
          <a:xfrm>
            <a:off x="1" y="992895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Resultados obtenidos</a:t>
            </a:r>
            <a:endParaRPr/>
          </a:p>
        </p:txBody>
      </p:sp>
      <p:pic>
        <p:nvPicPr>
          <p:cNvPr id="280" name="Google Shape;280;p14" title="tabla product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2775" y="1941075"/>
            <a:ext cx="6151224" cy="1679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4" title="imagen_2025-11-19_001250717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2775" y="3799626"/>
            <a:ext cx="3532927" cy="2989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4" title="Screenshot_2025-11-19-00-14-04-771_com.example.restaurantsdf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65575" y="1762399"/>
            <a:ext cx="3141398" cy="50262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87" name="Google Shape;28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15"/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Obstáculos presentados durante el desarrollo</a:t>
            </a:r>
            <a:endParaRPr/>
          </a:p>
        </p:txBody>
      </p:sp>
      <p:pic>
        <p:nvPicPr>
          <p:cNvPr descr="Businessman Waiting For Five O'clock (proporcionado por Getty Images)" id="289" name="Google Shape;289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64250" y="2734373"/>
            <a:ext cx="2829398" cy="361032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ecurity camera watching warehouse workers working in the storehouse (proporcionado por Getty Images)" id="290" name="Google Shape;290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91400" y="2879975"/>
            <a:ext cx="4976276" cy="3319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95" name="Google Shape;29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16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4400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400">
                <a:solidFill>
                  <a:srgbClr val="0E282A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*Exposición del sistema</a:t>
            </a:r>
            <a:endParaRPr sz="2400">
              <a:solidFill>
                <a:srgbClr val="0E282A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8"/>
          <p:cNvSpPr txBox="1"/>
          <p:nvPr>
            <p:ph type="title"/>
          </p:nvPr>
        </p:nvSpPr>
        <p:spPr>
          <a:xfrm>
            <a:off x="2639616" y="1916832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Font typeface="Century Gothic"/>
              <a:buNone/>
            </a:pPr>
            <a:r>
              <a:rPr lang="es-MX"/>
              <a:t>Consultas y/o Comentarios</a:t>
            </a:r>
            <a:endParaRPr/>
          </a:p>
        </p:txBody>
      </p:sp>
      <p:pic>
        <p:nvPicPr>
          <p:cNvPr descr="foto_preguntas.jpg" id="302" name="Google Shape;30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99857" y="3356993"/>
            <a:ext cx="2143125" cy="214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on">
  <a:themeElements>
    <a:clrScheme name="Ion">
      <a:dk1>
        <a:srgbClr val="000000"/>
      </a:dk1>
      <a:lt1>
        <a:srgbClr val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