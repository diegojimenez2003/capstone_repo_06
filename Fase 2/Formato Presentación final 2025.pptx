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sxDb8axuioWZWmsjKN5EU7BIq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699b0e6d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699b0e6da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23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24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27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0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3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1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31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3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94" name="Google Shape;94;p3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31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3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33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33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33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33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33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33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33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4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34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34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34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34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34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34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34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34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34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34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3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9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9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9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" name="Google Shape;9;p19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9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12;p1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7" name="Google Shape;1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PRESENTACIÓN FINAL CAPSTONE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3" name="Google Shape;1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D98AB"/>
                </a:gs>
                <a:gs pos="100000">
                  <a:srgbClr val="41697A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entury Gothic"/>
                <a:buNone/>
              </a:pP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Diego Alejandro Jimenez Carvajal </a:t>
              </a:r>
              <a:endParaRPr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Lider de proyecto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Coordinación y alineación del equipo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CDD4"/>
            </a:soli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D98AB"/>
                </a:gs>
                <a:gs pos="100000">
                  <a:srgbClr val="41697A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entury Gothic"/>
                <a:buNone/>
              </a:pP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Felipe </a:t>
              </a: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Galán</a:t>
              </a: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Fernández</a:t>
              </a: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endParaRPr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Programador en jefe.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Programar 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CDD4"/>
            </a:soli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D98AB"/>
                </a:gs>
                <a:gs pos="100000">
                  <a:srgbClr val="41697A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entury Gothic"/>
                <a:buNone/>
              </a:pPr>
              <a:r>
                <a:rPr lang="es-MX" sz="26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Samuel Contreras Yevilao</a:t>
              </a:r>
              <a:endParaRPr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Scrum master 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Supervisión del cumplimiento del marco ágil</a:t>
              </a:r>
              <a:endPara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CDD4"/>
            </a:solidFill>
            <a:ln>
              <a:noFill/>
            </a:ln>
            <a:effectLst>
              <a:outerShdw blurRad="63500" rotWithShape="0" dir="5400000" dist="38100">
                <a:srgbClr val="000000">
                  <a:alpha val="6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INTEGRANTES DEL PROYECTO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6" name="Google Shape;166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1" name="Google Shape;1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136188" y="95493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DESCRIPCIÓN DEL PROYECTO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4" name="Google Shape;174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3"/>
          <p:cNvSpPr/>
          <p:nvPr/>
        </p:nvSpPr>
        <p:spPr>
          <a:xfrm>
            <a:off x="136188" y="2066811"/>
            <a:ext cx="5172930" cy="4599208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6882882" y="2108123"/>
            <a:ext cx="5172930" cy="4583639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 de un sistema digital de gestión de pedidos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accesible vía app/web.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Módulo de Mesero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crear pedidos rápidamente, seleccionar mesa, productos y enviar a cocina.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Módulo de Cocina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actualizar el estado de cada producto (pendiente → preparación → horno → listo).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Módulo de Administración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gestionar usuarios, roles y visualizar métricas.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con Supabase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como backend para manejo de datos en tiempo real.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Actualización automática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del estado de los pedidos en todas las pantallas.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Historial y trazabilidad completa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del ciclo del pedido.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Interfaz intuitiva</a:t>
            </a: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reduciendo tiempos y errores humanos</a:t>
            </a:r>
            <a:r>
              <a:rPr lang="es-MX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4A08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277248" y="2951817"/>
            <a:ext cx="4678288" cy="3385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restaurante presenta lentitud en la gestión de pedidos, lo que afecta la atención al cliente.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meseros deben anotar pedidos de forma manual, generando errores, confusiones y pérdida de información.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existe un canal eficiente para comunicar pedidos a cocina, lo que produce: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Retrasos.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Órdenes mezcladas.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Falta de trazabilidad.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cocineros no tienen visibilidad clara del estado de cada producto solicitado.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existe un registro histórico que permita analizar el rendimiento del restaurante</a:t>
            </a:r>
            <a:r>
              <a:rPr i="0" lang="es-MX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3" name="Google Shape;1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General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86" name="Google Shape;186;p4"/>
          <p:cNvCxnSpPr/>
          <p:nvPr/>
        </p:nvCxnSpPr>
        <p:spPr>
          <a:xfrm>
            <a:off x="0" y="738260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 Específicos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objetivo general del proyecto es desarrollar un sistema digital de gestión de pedidos para el Restaurant SDF que permita mejorar el flujo de trabajo entre meseros, cocina y administración, optimizando la toma de pedidos, agilizando la comunicación interna y asegurando un registro ordenado y centralizado de la información. Este sistema busca reducir errores en pedidos, disminuir tiempos de espera y mejorar la experiencia del cliente mediante una plataforma moderna, confiable y fácil de usar. Además, la solución pretende fortalecer la organización operativa del restaurante y aportar una herramienta tecnológica que facilite la toma de decisiones y aumente la eficiencia del servicio.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614515" y="4879992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Diseñar e implementar una interfaz para meseros que permita crear y enviar pedidos de manera rápida y segura.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Desarrollar una vista para cocina que muestre las órdenes en tiempo real y permita actualizar el estado de cada producto.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Integrar una base de datos en Supabase para almacenar pedidos, usuarios, productos y estados de preparación.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Automatizar el flujo de comunicación entre mesero y cocina mediante actualizaciones dinámicas.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Reducir errores en los pedidos mediante la digitalización y control del estado de cada ítem.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Optimizar los tiempos de atención mediante un flujo más ordenado y eficiente.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Proveer un sistema administrable, permitiendo gestionar usuarios y roles dentro de la plataforma.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"/>
          <p:cNvSpPr txBox="1"/>
          <p:nvPr/>
        </p:nvSpPr>
        <p:spPr>
          <a:xfrm>
            <a:off x="98865" y="388695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-485192" y="1330018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Alcances y limitaciones del proyecto</a:t>
            </a:r>
            <a:endParaRPr/>
          </a:p>
        </p:txBody>
      </p:sp>
      <p:cxnSp>
        <p:nvCxnSpPr>
          <p:cNvPr id="197" name="Google Shape;197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5"/>
          <p:cNvSpPr/>
          <p:nvPr/>
        </p:nvSpPr>
        <p:spPr>
          <a:xfrm>
            <a:off x="210833" y="2229059"/>
            <a:ext cx="5172930" cy="4599208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Alcance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 de un sistema digital de gestión de pedidos para el Restaurant SDF, permitiendo registrar órdenes, productos, estados y roles de usuario (mesero, cocina y administrador).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de funcionalidades clave, como login, creación de pedidos, actualización de estados y vista de cocina con productos pendientes.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 con Supabase como backend para manejar autenticación, base de datos y sincronización en tiempo real.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 de una interfaz organizada para mejorar la eficiencia del trabajo interno del restaurante.</a:t>
            </a:r>
            <a:endParaRPr/>
          </a:p>
          <a:p>
            <a:pPr indent="-184150" lvl="0" marL="28575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sz="16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07950" lvl="0" marL="17145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t/>
            </a:r>
            <a:endParaRPr sz="10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303722" y="2229059"/>
            <a:ext cx="5172930" cy="4599208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rnd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Limitaciones </a:t>
            </a:r>
            <a:endParaRPr sz="24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sistema se enfoca en funcionalidades esenciales, por lo que no incluye módulos avanzados como inventario, pago electrónico o reportes complejos.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Dependencia del funcionamiento de </a:t>
            </a:r>
            <a:r>
              <a:rPr b="1"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Supabase</a:t>
            </a: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lo que implica que fallas externas pueden afectar el servicio.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proyecto no contempla una implementación completa en entorno productivo (servidores reales, pruebas con clientes, infraestructura de red).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Algunas mejoras de rendimiento, seguridad avanzada o escalabilidad quedan como trabajo futuro.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Metodología de trabajo para el desarrollo del proyecto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7" name="Google Shape;207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6"/>
          <p:cNvSpPr txBox="1"/>
          <p:nvPr/>
        </p:nvSpPr>
        <p:spPr>
          <a:xfrm>
            <a:off x="553652" y="3209731"/>
            <a:ext cx="11084700" cy="26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2000">
                <a:solidFill>
                  <a:schemeClr val="lt1"/>
                </a:solidFill>
              </a:rPr>
              <a:t>Metodología</a:t>
            </a:r>
            <a:r>
              <a:rPr b="1" lang="es-MX" sz="2000">
                <a:solidFill>
                  <a:schemeClr val="lt1"/>
                </a:solidFill>
              </a:rPr>
              <a:t> utilizada fue una </a:t>
            </a:r>
            <a:r>
              <a:rPr b="1" lang="es-MX" sz="2000">
                <a:solidFill>
                  <a:schemeClr val="lt1"/>
                </a:solidFill>
              </a:rPr>
              <a:t>híbrida</a:t>
            </a:r>
            <a:r>
              <a:rPr b="1" lang="es-MX" sz="2000">
                <a:solidFill>
                  <a:schemeClr val="lt1"/>
                </a:solidFill>
              </a:rPr>
              <a:t> entre la tradicional y agil:</a:t>
            </a:r>
            <a:endParaRPr b="1" sz="20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MX" sz="1700">
                <a:solidFill>
                  <a:schemeClr val="lt1"/>
                </a:solidFill>
              </a:rPr>
              <a:t>Combina elementos </a:t>
            </a:r>
            <a:r>
              <a:rPr b="1" lang="es-MX" sz="1700">
                <a:solidFill>
                  <a:schemeClr val="lt1"/>
                </a:solidFill>
              </a:rPr>
              <a:t>tradicionales</a:t>
            </a:r>
            <a:r>
              <a:rPr lang="es-MX" sz="1700">
                <a:solidFill>
                  <a:schemeClr val="lt1"/>
                </a:solidFill>
              </a:rPr>
              <a:t> (planificación inicial, definición clara de objetivos, roles y cronograma).</a:t>
            </a:r>
            <a:br>
              <a:rPr lang="es-MX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MX" sz="1700">
                <a:solidFill>
                  <a:schemeClr val="lt1"/>
                </a:solidFill>
              </a:rPr>
              <a:t>Incorpora prácticas </a:t>
            </a:r>
            <a:r>
              <a:rPr b="1" lang="es-MX" sz="1700">
                <a:solidFill>
                  <a:schemeClr val="lt1"/>
                </a:solidFill>
              </a:rPr>
              <a:t>ágiles</a:t>
            </a:r>
            <a:r>
              <a:rPr lang="es-MX" sz="1700">
                <a:solidFill>
                  <a:schemeClr val="lt1"/>
                </a:solidFill>
              </a:rPr>
              <a:t> (iteraciones cortas, retroalimentación continua, ajustes frecuentes y entregas parciales).</a:t>
            </a:r>
            <a:br>
              <a:rPr lang="es-MX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s-MX" sz="1700">
                <a:solidFill>
                  <a:schemeClr val="lt1"/>
                </a:solidFill>
              </a:rPr>
              <a:t>Permite mantener </a:t>
            </a:r>
            <a:r>
              <a:rPr b="1" lang="es-MX" sz="1700">
                <a:solidFill>
                  <a:schemeClr val="lt1"/>
                </a:solidFill>
              </a:rPr>
              <a:t>orden y control</a:t>
            </a:r>
            <a:r>
              <a:rPr lang="es-MX" sz="1700">
                <a:solidFill>
                  <a:schemeClr val="lt1"/>
                </a:solidFill>
              </a:rPr>
              <a:t>, sin perder la </a:t>
            </a:r>
            <a:r>
              <a:rPr b="1" lang="es-MX" sz="1700">
                <a:solidFill>
                  <a:schemeClr val="lt1"/>
                </a:solidFill>
              </a:rPr>
              <a:t>flexibilidad</a:t>
            </a:r>
            <a:r>
              <a:rPr lang="es-MX" sz="1700">
                <a:solidFill>
                  <a:schemeClr val="lt1"/>
                </a:solidFill>
              </a:rPr>
              <a:t> necesaria ante cambios técnicos y funcionales del proyecto.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3" name="Google Shape;2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 txBox="1"/>
          <p:nvPr/>
        </p:nvSpPr>
        <p:spPr>
          <a:xfrm>
            <a:off x="-1" y="119259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-80202" y="473951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Planificación Temporal</a:t>
            </a:r>
            <a:endParaRPr/>
          </a:p>
        </p:txBody>
      </p:sp>
      <p:cxnSp>
        <p:nvCxnSpPr>
          <p:cNvPr id="216" name="Google Shape;216;p7"/>
          <p:cNvCxnSpPr/>
          <p:nvPr/>
        </p:nvCxnSpPr>
        <p:spPr>
          <a:xfrm>
            <a:off x="-1" y="518830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7" name="Google Shape;21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" y="1075401"/>
            <a:ext cx="12192000" cy="4535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364273"/>
            <a:ext cx="12192000" cy="1204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3" name="Google Shape;2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 txBox="1"/>
          <p:nvPr/>
        </p:nvSpPr>
        <p:spPr>
          <a:xfrm>
            <a:off x="0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-439200" y="4448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Arquitectura del software</a:t>
            </a:r>
            <a:endParaRPr/>
          </a:p>
        </p:txBody>
      </p:sp>
      <p:cxnSp>
        <p:nvCxnSpPr>
          <p:cNvPr id="226" name="Google Shape;226;p8"/>
          <p:cNvCxnSpPr/>
          <p:nvPr/>
        </p:nvCxnSpPr>
        <p:spPr>
          <a:xfrm>
            <a:off x="104400" y="44487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7" name="Google Shape;227;p8"/>
          <p:cNvPicPr preferRelativeResize="0"/>
          <p:nvPr/>
        </p:nvPicPr>
        <p:blipFill rotWithShape="1">
          <a:blip r:embed="rId4">
            <a:alphaModFix/>
          </a:blip>
          <a:srcRect b="-1062" l="-2134" r="0" t="-1072"/>
          <a:stretch/>
        </p:blipFill>
        <p:spPr>
          <a:xfrm>
            <a:off x="3800025" y="1046950"/>
            <a:ext cx="4382508" cy="573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0" y="89768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Arquitectura de la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6" name="Google Shape;23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063" y="1596825"/>
            <a:ext cx="7407286" cy="506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-83975" y="7890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de datos lógico </a:t>
            </a:r>
            <a:endParaRPr/>
          </a:p>
        </p:txBody>
      </p:sp>
      <p:cxnSp>
        <p:nvCxnSpPr>
          <p:cNvPr id="244" name="Google Shape;24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Diagrama&#10;&#10;El contenido generado por IA puede ser incorrecto." id="245" name="Google Shape;2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0456" y="1405281"/>
            <a:ext cx="7883135" cy="5245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-1" y="797058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de datos Relacional </a:t>
            </a:r>
            <a:endParaRPr/>
          </a:p>
        </p:txBody>
      </p:sp>
      <p:cxnSp>
        <p:nvCxnSpPr>
          <p:cNvPr id="253" name="Google Shape;253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Diagrama&#10;&#10;El contenido generado por IA puede ser incorrecto." id="254" name="Google Shape;2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5240" y="1405449"/>
            <a:ext cx="7414580" cy="5441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9" name="Google Shape;259;g3a699b0e6da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a699b0e6da_3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61" name="Google Shape;261;g3a699b0e6da_3_0"/>
          <p:cNvSpPr txBox="1"/>
          <p:nvPr/>
        </p:nvSpPr>
        <p:spPr>
          <a:xfrm>
            <a:off x="-1" y="79705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 de Objetos</a:t>
            </a:r>
            <a:endParaRPr/>
          </a:p>
        </p:txBody>
      </p:sp>
      <p:cxnSp>
        <p:nvCxnSpPr>
          <p:cNvPr id="262" name="Google Shape;262;g3a699b0e6da_3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63" name="Google Shape;263;g3a699b0e6da_3_0" title="Modelo_objeto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2975" y="1502383"/>
            <a:ext cx="3405097" cy="5109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8" name="Google Shape;2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72500" y="875467"/>
            <a:ext cx="12192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Elementos Analíticos a Incorporar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*¿Qué?, ¿Por qué?, ¿Cómo?, ¿Con qué Periodicidad?  (al menos 3)</a:t>
            </a:r>
            <a:endParaRPr/>
          </a:p>
        </p:txBody>
      </p:sp>
      <p:cxnSp>
        <p:nvCxnSpPr>
          <p:cNvPr id="271" name="Google Shape;271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2"/>
          <p:cNvSpPr txBox="1"/>
          <p:nvPr/>
        </p:nvSpPr>
        <p:spPr>
          <a:xfrm>
            <a:off x="0" y="2070200"/>
            <a:ext cx="5265900" cy="3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MX" sz="1700">
                <a:solidFill>
                  <a:schemeClr val="lt2"/>
                </a:solidFill>
              </a:rPr>
              <a:t>TCC – Tendencia de Comportamiento de Consumo</a:t>
            </a:r>
            <a:endParaRPr b="1" sz="17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2"/>
                </a:solidFill>
              </a:rPr>
              <a:t>¿Qué?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s-MX" sz="1200">
                <a:solidFill>
                  <a:schemeClr val="lt2"/>
                </a:solidFill>
              </a:rPr>
              <a:t>Mide cómo evoluciona el consumo de alcohol y tabaco en el tiempo.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2"/>
                </a:solidFill>
              </a:rPr>
              <a:t>¿Por qué?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s-MX" sz="1200">
                <a:solidFill>
                  <a:schemeClr val="lt2"/>
                </a:solidFill>
              </a:rPr>
              <a:t>Permite detectar patrones, estacionalidad, cambios culturales y comportamientos anómalos.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2"/>
                </a:solidFill>
              </a:rPr>
              <a:t>¿Cómo?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s-MX" sz="1200">
                <a:solidFill>
                  <a:schemeClr val="lt2"/>
                </a:solidFill>
              </a:rPr>
              <a:t>Cálculo mensual del consumo, variación mes a mes y tendencia móvil de 3 meses.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2"/>
                </a:solidFill>
              </a:rPr>
              <a:t>¿Periodicidad?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s-MX" sz="1200">
                <a:solidFill>
                  <a:schemeClr val="lt2"/>
                </a:solidFill>
              </a:rPr>
              <a:t>Mensual (y análisis trimestral para tendencias).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lt2"/>
                </a:solidFill>
              </a:rPr>
              <a:t>Aporta a: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s-MX" sz="1200">
                <a:solidFill>
                  <a:schemeClr val="lt2"/>
                </a:solidFill>
              </a:rPr>
              <a:t>Mejor gestión de stock, personal, ambientación y decisiones sobre barra.</a:t>
            </a:r>
            <a:endParaRPr sz="1500">
              <a:solidFill>
                <a:srgbClr val="FFEF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7585800" y="1952775"/>
            <a:ext cx="4606200" cy="4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700">
                <a:solidFill>
                  <a:schemeClr val="lt1"/>
                </a:solidFill>
              </a:rPr>
              <a:t> CPG – Curva de Preferencia Gastronómica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100">
                <a:solidFill>
                  <a:schemeClr val="lt1"/>
                </a:solidFill>
              </a:rPr>
              <a:t>¿Qué?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-MX" sz="1100">
                <a:solidFill>
                  <a:schemeClr val="lt1"/>
                </a:solidFill>
              </a:rPr>
              <a:t>Analiza la evolución de preferencias por tipo de comida.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100">
                <a:solidFill>
                  <a:schemeClr val="lt1"/>
                </a:solidFill>
              </a:rPr>
              <a:t>¿Por qué?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-MX" sz="1100">
                <a:solidFill>
                  <a:schemeClr val="lt1"/>
                </a:solidFill>
              </a:rPr>
              <a:t>Permite anticipar tendencias culinarias, identificar caídas y reducir costos en inventario.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100">
                <a:solidFill>
                  <a:schemeClr val="lt1"/>
                </a:solidFill>
              </a:rPr>
              <a:t>¿Cómo?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-MX" sz="1100">
                <a:solidFill>
                  <a:schemeClr val="lt1"/>
                </a:solidFill>
              </a:rPr>
              <a:t>Proporción mensual por categoría, velocidad de cambio y aceleración (predictivo).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100">
                <a:solidFill>
                  <a:schemeClr val="lt1"/>
                </a:solidFill>
              </a:rPr>
              <a:t>Periodicidad: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-MX" sz="1100">
                <a:solidFill>
                  <a:schemeClr val="lt1"/>
                </a:solidFill>
              </a:rPr>
              <a:t>Mensual (con análisis comparativo).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100">
                <a:solidFill>
                  <a:schemeClr val="lt1"/>
                </a:solidFill>
              </a:rPr>
              <a:t>Aporta a: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s-MX" sz="1100">
                <a:solidFill>
                  <a:schemeClr val="lt1"/>
                </a:solidFill>
              </a:rPr>
              <a:t>Optimizar compras, ajustar menú, evitar inventario muerto.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78" name="Google Shape;2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 “</a:t>
            </a:r>
            <a:r>
              <a:rPr lang="es-MX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Gestión de Pedidos para Restaurant SDF</a:t>
            </a:r>
            <a:r>
              <a:rPr lang="es-MX" sz="1800">
                <a:solidFill>
                  <a:srgbClr val="0E282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280" name="Google Shape;280;p13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Tecnologías utilizadas</a:t>
            </a:r>
            <a:endParaRPr/>
          </a:p>
        </p:txBody>
      </p:sp>
      <p:cxnSp>
        <p:nvCxnSpPr>
          <p:cNvPr id="281" name="Google Shape;281;p1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F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3"/>
          <p:cNvSpPr/>
          <p:nvPr/>
        </p:nvSpPr>
        <p:spPr>
          <a:xfrm>
            <a:off x="323054" y="2211346"/>
            <a:ext cx="11590504" cy="4196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Flutter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Framework principal para construir la aplicación móvil multiplataforma.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Dart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Lenguaje de programación utilizado en toda la lógica de la aplicación.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</a:rPr>
              <a:t>Supa Base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Backend como servicio para autenticación, base de datos y Realtime.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PostgreSQL (</a:t>
            </a:r>
            <a:r>
              <a:rPr b="1" lang="es-MX" sz="1800">
                <a:solidFill>
                  <a:schemeClr val="lt1"/>
                </a:solidFill>
              </a:rPr>
              <a:t>vía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MX" sz="1800">
                <a:solidFill>
                  <a:schemeClr val="lt1"/>
                </a:solidFill>
              </a:rPr>
              <a:t>Subbase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Base de datos relacional usada para almacenar pedidos, usuarios y mesas.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</a:rPr>
              <a:t>Supa Base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Auth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Sistema de autenticación segura con email y contraseña.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</a:rPr>
              <a:t>Supa Base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Realtime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Notificaciones en tiempo real para actualización de estados de pedidos.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</a:rPr>
              <a:t>Supa Base</a:t>
            </a: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Storage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Almacenamiento de archivos (si se necesita en futuras versiones).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 &amp; GitHub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Control de versiones y trabajo colaborativo.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 Code / Android Studio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Entornos de desarrollo utilizados.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Figma </a:t>
            </a:r>
            <a:r>
              <a:rPr b="0" i="0" lang="es-MX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Apoyo en diseño de interfaz y prototipado.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7" name="Google Shape;2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4"/>
          <p:cNvSpPr txBox="1"/>
          <p:nvPr/>
        </p:nvSpPr>
        <p:spPr>
          <a:xfrm>
            <a:off x="1" y="99289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Resultados obtenidos</a:t>
            </a:r>
            <a:endParaRPr/>
          </a:p>
        </p:txBody>
      </p:sp>
      <p:pic>
        <p:nvPicPr>
          <p:cNvPr id="289" name="Google Shape;289;p14" title="tabla produc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775" y="1941075"/>
            <a:ext cx="6151224" cy="167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4" title="imagen_2025-11-19_0012507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775" y="3799626"/>
            <a:ext cx="3532927" cy="29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4" title="Screenshot_2025-11-19-00-14-04-771_com.example.restaurantsdf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5575" y="1762399"/>
            <a:ext cx="3141398" cy="5026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96" name="Google Shape;2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5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Obstáculos presentados durante el desarrollo</a:t>
            </a:r>
            <a:endParaRPr/>
          </a:p>
        </p:txBody>
      </p:sp>
      <p:pic>
        <p:nvPicPr>
          <p:cNvPr descr="Businessman Waiting For Five O'clock (proporcionado por Getty Images)" id="298" name="Google Shape;29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4250" y="2734373"/>
            <a:ext cx="2829398" cy="36103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curity camera watching warehouse workers working in the storehouse (proporcionado por Getty Images)" id="299" name="Google Shape;29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1400" y="2879975"/>
            <a:ext cx="4976276" cy="331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04" name="Google Shape;3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E282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2639616" y="19168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MX"/>
              <a:t>Consultas y/o Comentarios</a:t>
            </a:r>
            <a:endParaRPr/>
          </a:p>
        </p:txBody>
      </p:sp>
      <p:pic>
        <p:nvPicPr>
          <p:cNvPr descr="foto_preguntas.jpg" id="311" name="Google Shape;3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857" y="335699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